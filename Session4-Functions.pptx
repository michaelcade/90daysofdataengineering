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y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6012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D43B"/>
                </a:solidFill>
                <a:latin typeface="Arial"/>
              </a:rPr>
              <a:t>PYTHON TRAINING  ·  SESSION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4F7FA"/>
                </a:solidFill>
                <a:latin typeface="Arial"/>
              </a:rPr>
              <a:t>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93A6B8"/>
                </a:solidFill>
                <a:latin typeface="Arial"/>
              </a:rPr>
              <a:t>Packaging up logic into reusable, callable pieces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TODAY'S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we'll cover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713232"/>
          </a:xfrm>
          <a:prstGeom prst="roundRect">
            <a:avLst>
              <a:gd name="adj" fmla="val 14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7552" y="19385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783080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Nouns vs. verbs in programming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60904"/>
            <a:ext cx="5074920" cy="713232"/>
          </a:xfrm>
          <a:prstGeom prst="roundRect">
            <a:avLst>
              <a:gd name="adj" fmla="val 14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" y="281635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8163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660904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Writing simple functions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38728"/>
            <a:ext cx="5074920" cy="713232"/>
          </a:xfrm>
          <a:prstGeom prst="roundRect">
            <a:avLst>
              <a:gd name="adj" fmla="val 14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7552" y="369417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6941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538728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Arguments and parameters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16552"/>
            <a:ext cx="5074920" cy="713232"/>
          </a:xfrm>
          <a:prstGeom prst="roundRect">
            <a:avLst>
              <a:gd name="adj" fmla="val 14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7552" y="45720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57200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416552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Return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783080"/>
            <a:ext cx="5074920" cy="713232"/>
          </a:xfrm>
          <a:prstGeom prst="roundRect">
            <a:avLst>
              <a:gd name="adj" fmla="val 14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73952" y="19385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193852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1783080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Default argument values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660904"/>
            <a:ext cx="5074920" cy="713232"/>
          </a:xfrm>
          <a:prstGeom prst="roundRect">
            <a:avLst>
              <a:gd name="adj" fmla="val 14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73952" y="281635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28163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660904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Documenting our functions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538728"/>
            <a:ext cx="5074920" cy="713232"/>
          </a:xfrm>
          <a:prstGeom prst="roundRect">
            <a:avLst>
              <a:gd name="adj" fmla="val 14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73952" y="369417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36941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3538728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Special parameters: *args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416552"/>
            <a:ext cx="5074920" cy="713232"/>
          </a:xfrm>
          <a:prstGeom prst="roundRect">
            <a:avLst>
              <a:gd name="adj" fmla="val 14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73952" y="45720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457200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4416552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Local vs. global variables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Nouns vs. verbs in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F4F7FA"/>
                </a:solidFill>
                <a:latin typeface="Arial"/>
              </a:rPr>
              <a:t>Every program is built from two ingredients: the data, and the actions that work on it.</a:t>
            </a:r>
          </a:p>
        </p:txBody>
      </p:sp>
      <p:pic>
        <p:nvPicPr>
          <p:cNvPr id="6" name="Picture 5" descr="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60604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65960" y="26060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FFD43B"/>
                </a:solidFill>
                <a:latin typeface="Arial"/>
              </a:rPr>
              <a:t>Nouns —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Numbers, strings, lists, dicts...</a:t>
            </a:r>
          </a:p>
          <a:p>
            <a:pPr marL="274320" indent="-274320" algn="l"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The things your program works with</a:t>
            </a:r>
          </a:p>
        </p:txBody>
      </p:sp>
      <p:pic>
        <p:nvPicPr>
          <p:cNvPr id="9" name="Picture 8" descr="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06040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26060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FFD43B"/>
                </a:solidFill>
                <a:latin typeface="Arial"/>
              </a:rPr>
              <a:t>Verbs —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33756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print, input, len, sum, type...</a:t>
            </a:r>
          </a:p>
          <a:p>
            <a:pPr marL="274320" indent="-274320" algn="l"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The actions that do things with 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WRITING SIMPLE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def, name, and a body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def means "I want to define a new function"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Right after def comes the function's name — this is a variable assignment; the variable now holds a function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() comes next — empty for now, parameters come later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The line ends with a colon, and the body is indented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Nothing runs until you call it with 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simple_function.py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hello():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'Hello!'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hello()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Hello!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A USEFUL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Calling vs. referencing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hello refers to the function itself — instructions, not yet followed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hello() actually runs those instructions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Defining a function again with the same name replaces the old one completely — it's just another assignment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Since a function is a value, you can even pass one as an argument to another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reference_vs_call.py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hello():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'Hello!'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hello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&lt;function hello at 0x...&gt;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hello()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Hello!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ey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ARGUMENTS AND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Feeding data into a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A parameter is the variable name in the function's definition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An argument is the actual value you pass when calling it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It's easy to mix the two terms up — even experienced developers do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Redefining hello to require an argument replaces the old, no-argument version entirely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one_parameter.py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hello(name):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(f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'Hello, {name}!'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hello(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'Reuven'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Hello, Reuven!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ARGUMENTS AND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Matching by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With several parameters, each </a:t>
            </a:r>
            <a:r>
              <a:rPr sz="1550" b="0" i="0">
                <a:solidFill>
                  <a:srgbClr val="8FD14F"/>
                </a:solidFill>
                <a:latin typeface="Arial"/>
              </a:rPr>
              <a:t>positional</a:t>
            </a:r>
            <a:r>
              <a:rPr sz="1550" b="0" i="0">
                <a:solidFill>
                  <a:srgbClr val="F4F7FA"/>
                </a:solidFill>
                <a:latin typeface="Arial"/>
              </a:rPr>
              <a:t> argument lines up with the parameter in the same slot.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5120640" cy="260604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" y="26243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43584" y="26243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63040" y="26243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6946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matching.py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926080"/>
            <a:ext cx="457200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300" b="0" i="0">
                <a:solidFill>
                  <a:srgbClr val="F4F7FA"/>
                </a:solidFill>
                <a:latin typeface="Courier New"/>
              </a:rPr>
              <a:t> hello(first_name, last_name):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30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F4F7FA"/>
                </a:solidFill>
                <a:latin typeface="Courier New"/>
              </a:rPr>
              <a:t>(f</a:t>
            </a:r>
            <a:r>
              <a:rPr sz="1300" b="0" i="0">
                <a:solidFill>
                  <a:srgbClr val="8FD14F"/>
                </a:solidFill>
                <a:latin typeface="Courier New"/>
              </a:rPr>
              <a:t>'Hi {first_name} {last_name}!'</a:t>
            </a:r>
            <a:r>
              <a:rPr sz="130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endParaRPr sz="130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4F7FA"/>
                </a:solidFill>
                <a:latin typeface="Courier New"/>
              </a:rPr>
              <a:t>hello(</a:t>
            </a:r>
            <a:r>
              <a:rPr sz="1300" b="0" i="0">
                <a:solidFill>
                  <a:srgbClr val="8FD14F"/>
                </a:solidFill>
                <a:latin typeface="Courier New"/>
              </a:rPr>
              <a:t>'a'</a:t>
            </a:r>
            <a:r>
              <a:rPr sz="130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300" b="0" i="0">
                <a:solidFill>
                  <a:srgbClr val="8FD14F"/>
                </a:solidFill>
                <a:latin typeface="Courier New"/>
              </a:rPr>
              <a:t>'b'</a:t>
            </a:r>
            <a:r>
              <a:rPr sz="130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62778C"/>
                </a:solidFill>
                <a:latin typeface="Courier New"/>
              </a:rPr>
              <a:t># Hi a b!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23160"/>
            <a:ext cx="5120640" cy="2606040"/>
          </a:xfrm>
          <a:prstGeom prst="roundRect">
            <a:avLst>
              <a:gd name="adj" fmla="val 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D43B"/>
                </a:solidFill>
                <a:latin typeface="Arial"/>
              </a:rPr>
              <a:t>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8FD14F"/>
                </a:solidFill>
                <a:latin typeface="Courier New"/>
              </a:rPr>
              <a:t>first_name</a:t>
            </a:r>
            <a:r>
              <a:rPr sz="1500" b="0" i="0">
                <a:solidFill>
                  <a:srgbClr val="F4F7FA"/>
                </a:solidFill>
                <a:latin typeface="Courier New"/>
              </a:rPr>
              <a:t>        </a:t>
            </a:r>
            <a:r>
              <a:rPr sz="1500" b="0" i="0">
                <a:solidFill>
                  <a:srgbClr val="8FD14F"/>
                </a:solidFill>
                <a:latin typeface="Courier New"/>
              </a:rPr>
              <a:t>last_name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2044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D43B"/>
                </a:solidFill>
                <a:latin typeface="Arial"/>
              </a:rPr>
              <a:t>ARGUMENTS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8FD14F"/>
                </a:solidFill>
                <a:latin typeface="Courier New"/>
              </a:rPr>
              <a:t>'a'</a:t>
            </a:r>
            <a:r>
              <a:rPr sz="1500" b="0" i="0">
                <a:solidFill>
                  <a:srgbClr val="F4F7FA"/>
                </a:solidFill>
                <a:latin typeface="Courier New"/>
              </a:rPr>
              <a:t>                  </a:t>
            </a:r>
            <a:r>
              <a:rPr sz="1500" b="0" i="0">
                <a:solidFill>
                  <a:srgbClr val="8FD14F"/>
                </a:solidFill>
                <a:latin typeface="Courier New"/>
              </a:rPr>
              <a:t>'b'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4340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93A6B8"/>
                </a:solidFill>
                <a:latin typeface="Arial"/>
              </a:rPr>
              <a:t>Matched left to right, one argument per parameter, in 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ARGUMENTS AND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Keyword arguments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Pass name=value to say exactly which parameter you mean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With keyword arguments, the order no longer matters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You can mix the two styles, but every positional argument must come before any keyword arguments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Keyword arguments make calls easier to read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keyword_args.py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add(x, y):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return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x + y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add(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5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     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positional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add(x=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y=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5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keyword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add(y=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x=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5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order is fine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add(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5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y=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  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mixed --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turn_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RETURN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Sending a value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A function with no return gives back None automatically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return sends a value straight back to the caller — it's a keyword, not a function, so it never needs ()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return also exits the function immediately, skipping anything written after it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The returned value can be assigned, printed, sliced — anything you'd do with any other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return_demo.py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hello(name):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return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f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'Hello, {name}!'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8FD14F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s = hello(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'Reuven'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s[: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5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]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'Hello'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ple_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RETURN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Returning more than one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return only ever sends back a single value...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...but that single value can be a tuple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Write return a, b and Python bundles them up for you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Unpack the result on the caller's side into as many variables as you returned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multi_return.py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hello(name):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return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f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'Hello, {name}!'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f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'Bye, {name}!'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8FD14F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hi, bye = hello(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'Reuven'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(hi)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Hello, Reuven!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(bye)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Bye, Reuven!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c_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DOCUMENTING OUR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Docstrings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A docstring is a string right after the def line — usually triple-quoted so it can span several lines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Describe what the function expects, what (if anything) it modifies, and what it returns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help(function_name) displays it — the same help() that works on built-ins like len and 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docstring_demo.py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 add(first, second):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350" b="0" i="0">
                <a:solidFill>
                  <a:srgbClr val="8FD14F"/>
                </a:solidFill>
                <a:latin typeface="Courier New"/>
              </a:rPr>
              <a:t>'''Add two values together.</a:t>
            </a:r>
          </a:p>
          <a:p>
            <a:pPr algn="l">
              <a:lnSpc>
                <a:spcPct val="135000"/>
              </a:lnSpc>
            </a:pPr>
            <a:endParaRPr sz="1350" b="0" i="0">
              <a:solidFill>
                <a:srgbClr val="8FD14F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8FD14F"/>
                </a:solidFill>
                <a:latin typeface="Courier New"/>
              </a:rPr>
              <a:t>    - Expects: two numbers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8FD14F"/>
                </a:solidFill>
                <a:latin typeface="Courier New"/>
              </a:rPr>
              <a:t>    - Returns: first + second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8FD14F"/>
                </a:solidFill>
                <a:latin typeface="Courier New"/>
              </a:rPr>
              <a:t>    '''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350" b="1" i="0">
                <a:solidFill>
                  <a:srgbClr val="FFD43B"/>
                </a:solidFill>
                <a:latin typeface="Courier New"/>
              </a:rPr>
              <a:t>return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 first + second</a:t>
            </a:r>
          </a:p>
          <a:p>
            <a:pPr algn="l">
              <a:lnSpc>
                <a:spcPct val="135000"/>
              </a:lnSpc>
            </a:pPr>
            <a:endParaRPr sz="13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4B8BBE"/>
                </a:solidFill>
                <a:latin typeface="Courier New"/>
              </a:rPr>
              <a:t>help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(add)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g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DEFAULT ARGUMENT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Making parameters 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Give a parameter a value in the def line, and the caller can skip it entirely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Every required parameter must come before any parameter with a default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You've already used defaults: str.split() and enumerate() both have them built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defaults_demo.py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add(x, y=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9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return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x + y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add(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13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add(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19 -- y defaults to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sterisk_ar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SPECIAL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Any number of arguments with *args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A * before a parameter name scoops up any number of positional arguments into a tuple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args is the traditional name, but you can call it anything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Inside the function, just loop over it like any other tuple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This is exactly how print() accepts as many values as you hand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args_demo.py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mysum(*numbers):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total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0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one_number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numbers: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    total += one_number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return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total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mysum(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ope_bo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ONE MORE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Local vs. global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Parameters and variables assigned inside a function are local — they exist only while that function is running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Once the function returns, its local variables disappear and are invisible from the outside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A variable defined outside every function is global, and can be read from inside functions too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This keeps functions self-contained, so they never accidentally collide over the same variable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scope_demo.py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add(x, y):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total = x + y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local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return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total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add(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total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NameError -- local to add()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SESSION 4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you can now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837943"/>
            <a:ext cx="40233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9888" y="1783080"/>
            <a:ext cx="436168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4F7FA"/>
                </a:solidFill>
                <a:latin typeface="Arial"/>
              </a:rPr>
              <a:t>Explain the difference between nouns (data) and verbs (functions)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14016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468880"/>
            <a:ext cx="402336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89888" y="2414016"/>
            <a:ext cx="436168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4F7FA"/>
                </a:solidFill>
                <a:latin typeface="Arial"/>
              </a:rPr>
              <a:t>Define a function with def and call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44952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099816"/>
            <a:ext cx="402336" cy="402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89888" y="3044952"/>
            <a:ext cx="436168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4F7FA"/>
                </a:solidFill>
                <a:latin typeface="Arial"/>
              </a:rPr>
              <a:t>Tell arguments and parameters apart, and match them by 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75888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730752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89888" y="3675888"/>
            <a:ext cx="436168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4F7FA"/>
                </a:solidFill>
                <a:latin typeface="Arial"/>
              </a:rPr>
              <a:t>Use keyword arguments to name what you're passing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06824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361688"/>
            <a:ext cx="402336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89888" y="4306824"/>
            <a:ext cx="436168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4F7FA"/>
                </a:solidFill>
                <a:latin typeface="Arial"/>
              </a:rPr>
              <a:t>Return a value — or several, bundled as a tuple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83080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37943"/>
            <a:ext cx="402336" cy="4023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76288" y="1783080"/>
            <a:ext cx="436168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4F7FA"/>
                </a:solidFill>
                <a:latin typeface="Arial"/>
              </a:rPr>
              <a:t>Write a docstring and read one back with help()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414016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468880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76288" y="2414016"/>
            <a:ext cx="436168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4F7FA"/>
                </a:solidFill>
                <a:latin typeface="Arial"/>
              </a:rPr>
              <a:t>Give a parameter a default 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044952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3099816"/>
            <a:ext cx="402336" cy="4023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76288" y="3044952"/>
            <a:ext cx="436168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4F7FA"/>
                </a:solidFill>
                <a:latin typeface="Arial"/>
              </a:rPr>
              <a:t>Accept any number of arguments with *args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675888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3730752"/>
            <a:ext cx="402336" cy="4023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76288" y="3675888"/>
            <a:ext cx="436168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4F7FA"/>
                </a:solidFill>
                <a:latin typeface="Arial"/>
              </a:rPr>
              <a:t>Explain why local variables can't be seen outside their function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1440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D43B"/>
                </a:solidFill>
                <a:latin typeface="Arial"/>
              </a:rPr>
              <a:t>SESSION 5 — COMING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4F7FA"/>
                </a:solidFill>
                <a:latin typeface="Arial"/>
              </a:rPr>
              <a:t>Sharing and reusing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60520"/>
            <a:ext cx="9235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0" i="0">
                <a:solidFill>
                  <a:srgbClr val="93A6B8"/>
                </a:solidFill>
                <a:latin typeface="Arial"/>
              </a:rPr>
              <a:t>Next up: modules, packages, and PyPI — plus an</a:t>
            </a:r>
          </a:p>
          <a:p>
            <a:pPr algn="ctr">
              <a:lnSpc>
                <a:spcPct val="130000"/>
              </a:lnSpc>
            </a:pPr>
            <a:r>
              <a:rPr sz="1550" b="0" i="0">
                <a:solidFill>
                  <a:srgbClr val="93A6B8"/>
                </a:solidFill>
                <a:latin typeface="Arial"/>
              </a:rPr>
              <a:t>open AMA on where to go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1421</Words>
  <Application>Microsoft Macintosh PowerPoint</Application>
  <PresentationFormat>Widescreen</PresentationFormat>
  <Paragraphs>223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Cade</cp:lastModifiedBy>
  <cp:revision>1</cp:revision>
  <dcterms:created xsi:type="dcterms:W3CDTF">2013-01-27T09:14:16Z</dcterms:created>
  <dcterms:modified xsi:type="dcterms:W3CDTF">2026-07-27T19:59:22Z</dcterms:modified>
  <cp:category/>
</cp:coreProperties>
</file>