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TRAINING  ·  SESSION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F4F7FA"/>
                </a:solidFill>
                <a:latin typeface="Arial"/>
              </a:rPr>
              <a:t>Fundamentals and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4F7FA"/>
                </a:solidFill>
                <a:latin typeface="Arial"/>
              </a:rPr>
              <a:t>Principles of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93A6B8"/>
                </a:solidFill>
                <a:latin typeface="Arial"/>
              </a:rPr>
              <a:t>A recap of what we covered — built to review before session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3000" b="1" i="0" dirty="0">
                <a:solidFill>
                  <a:srgbClr val="F4F7FA"/>
                </a:solidFill>
                <a:latin typeface="Arial"/>
              </a:rPr>
              <a:t>Talking Points</a:t>
            </a:r>
            <a:endParaRPr sz="3000" b="1" i="0" dirty="0">
              <a:solidFill>
                <a:srgbClr val="F4F7FA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76" y="18836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7830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What is a programming language?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578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47802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What is Python?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72968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0976" y="327355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27355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17296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Values and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67912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976" y="3968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9684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8679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Displaying things with print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62856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0976" y="46634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56285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Getting input with 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83080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37376" y="188366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7376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17830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Making decisions: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478024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37376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7376" y="25786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478024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Numbers: int and float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172968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37376" y="3273551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7376" y="3273551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317296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Text in Python: str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867912"/>
            <a:ext cx="5074920" cy="56692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37376" y="3968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39684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3867912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Methods — verbs for your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is a programming language?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4864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400"/>
              </a:spcAft>
            </a:pPr>
            <a:r>
              <a:rPr sz="16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50" b="0" i="0">
                <a:solidFill>
                  <a:srgbClr val="F4F7FA"/>
                </a:solidFill>
                <a:latin typeface="Arial"/>
              </a:rPr>
              <a:t>A precise set of instructions a computer can follow</a:t>
            </a:r>
          </a:p>
          <a:p>
            <a:pPr marL="310896" indent="-310896" algn="l">
              <a:lnSpc>
                <a:spcPct val="115000"/>
              </a:lnSpc>
              <a:spcAft>
                <a:spcPts val="1400"/>
              </a:spcAft>
            </a:pPr>
            <a:r>
              <a:rPr sz="16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50" b="0" i="0">
                <a:solidFill>
                  <a:srgbClr val="F4F7FA"/>
                </a:solidFill>
                <a:latin typeface="Arial"/>
              </a:rPr>
              <a:t>Early computers solved one problem at a time — changing the task meant rebuilding the machine</a:t>
            </a:r>
          </a:p>
          <a:p>
            <a:pPr marL="310896" indent="-310896" algn="l">
              <a:lnSpc>
                <a:spcPct val="115000"/>
              </a:lnSpc>
              <a:spcAft>
                <a:spcPts val="1400"/>
              </a:spcAft>
            </a:pPr>
            <a:r>
              <a:rPr sz="16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50" b="0" i="0">
                <a:solidFill>
                  <a:srgbClr val="F4F7FA"/>
                </a:solidFill>
                <a:latin typeface="Arial"/>
              </a:rPr>
              <a:t>A programming language lets us write new instructions without rebuilding anything</a:t>
            </a:r>
          </a:p>
          <a:p>
            <a:pPr marL="310896" indent="-310896" algn="l">
              <a:lnSpc>
                <a:spcPct val="115000"/>
              </a:lnSpc>
              <a:spcAft>
                <a:spcPts val="1400"/>
              </a:spcAft>
            </a:pPr>
            <a:r>
              <a:rPr sz="16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50" b="0" i="0">
                <a:solidFill>
                  <a:srgbClr val="F4F7FA"/>
                </a:solidFill>
                <a:latin typeface="Arial"/>
              </a:rPr>
              <a:t>Computers do exactly what you tell them — not what you meant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74519"/>
            <a:ext cx="4663440" cy="306324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21488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RULE OF THUMB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606040"/>
            <a:ext cx="39319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F4F7FA"/>
                </a:solidFill>
                <a:latin typeface="Arial"/>
              </a:rPr>
              <a:t>“Computers do what you</a:t>
            </a:r>
          </a:p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F4F7FA"/>
                </a:solidFill>
                <a:latin typeface="Arial"/>
              </a:rPr>
              <a:t>tell them to do,</a:t>
            </a:r>
          </a:p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F4F7FA"/>
                </a:solidFill>
                <a:latin typeface="Arial"/>
              </a:rPr>
              <a:t>not what you want them to do.”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is Python?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623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A high-level, interpreted, dynamic language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Created by Guido van Rossum in the late 1980s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No installation needed to start — Jupyter runs Python right in the browser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Everyday use: web development, DevOps, data analysis, AI and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74519"/>
            <a:ext cx="4663440" cy="306324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21488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D43B"/>
                </a:solidFill>
                <a:latin typeface="Arial"/>
              </a:rPr>
              <a:t>WORKING IN JUPYTER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560320"/>
            <a:ext cx="39319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Markdown cells — documentation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Code cells — Python you can run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Run a cell with Shift +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93A6B8"/>
                </a:solidFill>
                <a:latin typeface="Arial"/>
              </a:rPr>
              <a:t>Source: 90DaysOfDevOps, Day 42 — Introduction to Python (90daysofdevops.com)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Values and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variable is a name that refers to a value — like a pronoun standing in for a noun</a:t>
            </a:r>
          </a:p>
          <a:p>
            <a:pPr marL="310896" indent="-310896" algn="l"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No need to declare a type — assigning a value is what creates the variable</a:t>
            </a:r>
          </a:p>
          <a:p>
            <a:pPr marL="310896" indent="-310896" algn="l"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Reassigning a variable simply overwrites it — the most recent assignment always wins</a:t>
            </a:r>
          </a:p>
          <a:p>
            <a:pPr marL="310896" indent="-310896" algn="l">
              <a:lnSpc>
                <a:spcPct val="112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Use lowercase, meaningful names; letters, digits and _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0632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variables.py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most recent assignment wins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'abcd'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(x)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abcd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DISPLAYING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print()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print() displays whatever is inside its parentheses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Works with text, numbers, or the result of an expression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Each call to print starts on a new line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+ joins two strings together — but adding a string to a number raises an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0632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print_demo.py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World!'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+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30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+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'world'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hello,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ey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GETTING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input()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input() pauses the program and waits for the user to type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The text you display goes inside the parentheses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Whatever the user types is returned as text (a string) and can be assigned to a variable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f-strings make it easy to mix variables into a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0632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greet.py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first_name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'Enter your name: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{first_name}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Hello, Michael!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BEFORE WE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Comparison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F4F7FA"/>
                </a:solidFill>
                <a:latin typeface="Arial"/>
              </a:rPr>
              <a:t>Every operator below compares two values and returns </a:t>
            </a:r>
            <a:r>
              <a:rPr sz="1550" b="1" i="0">
                <a:solidFill>
                  <a:srgbClr val="8FD14F"/>
                </a:solidFill>
                <a:latin typeface="Arial"/>
              </a:rPr>
              <a:t>True</a:t>
            </a:r>
            <a:r>
              <a:rPr sz="1550" b="0" i="0">
                <a:solidFill>
                  <a:srgbClr val="F4F7FA"/>
                </a:solidFill>
                <a:latin typeface="Arial"/>
              </a:rPr>
              <a:t> or </a:t>
            </a:r>
            <a:r>
              <a:rPr sz="1550" b="1" i="0">
                <a:solidFill>
                  <a:srgbClr val="8FD14F"/>
                </a:solidFill>
                <a:latin typeface="Arial"/>
              </a:rPr>
              <a:t>False</a:t>
            </a:r>
            <a:r>
              <a:rPr sz="1550" b="0" i="0">
                <a:solidFill>
                  <a:srgbClr val="F4F7F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78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68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equal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578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!=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68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not equal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468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578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&lt;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468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less than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721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&lt;=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611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less than or equal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11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3721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611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greater than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611880"/>
            <a:ext cx="3337560" cy="914400"/>
          </a:xfrm>
          <a:prstGeom prst="roundRect">
            <a:avLst>
              <a:gd name="adj" fmla="val 1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3721608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D43B"/>
                </a:solidFill>
                <a:latin typeface="Courier New"/>
              </a:rPr>
              <a:t>&gt;=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611880"/>
            <a:ext cx="17830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F4F7FA"/>
                </a:solidFill>
                <a:latin typeface="Arial"/>
              </a:rPr>
              <a:t>greater or equal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a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MAKING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if and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if looks at a True/False value — usually from a comparison — and runs its block only when True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The line ends with a colon : and the block is indented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else runs when the if condition was False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elif checks another condition when the first one fails — you can chain as many as you need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decide.py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1911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name =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'Enter your name: 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 dirty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 dirty="0">
                <a:solidFill>
                  <a:srgbClr val="FFD43B"/>
                </a:solidFill>
                <a:latin typeface="Courier New"/>
              </a:rPr>
              <a:t>if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 name == </a:t>
            </a:r>
            <a:r>
              <a:rPr lang="en-GB" sz="1550" b="0" i="0" dirty="0">
                <a:solidFill>
                  <a:srgbClr val="8FD14F"/>
                </a:solidFill>
                <a:latin typeface="Courier New"/>
              </a:rPr>
              <a:t>‘Michael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'Hello, boss!'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 dirty="0">
                <a:solidFill>
                  <a:srgbClr val="FFD43B"/>
                </a:solidFill>
                <a:latin typeface="Courier New"/>
              </a:rPr>
              <a:t>else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 err="1">
                <a:solidFill>
                  <a:srgbClr val="F4F7FA"/>
                </a:solidFill>
                <a:latin typeface="Courier New"/>
              </a:rPr>
              <a:t>f</a:t>
            </a:r>
            <a:r>
              <a:rPr sz="1550" b="0" i="0" dirty="0" err="1">
                <a:solidFill>
                  <a:srgbClr val="8FD14F"/>
                </a:solidFill>
                <a:latin typeface="Courier New"/>
              </a:rPr>
              <a:t>'Hello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, 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{name}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.'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MORE THAN TWO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Chaining with elif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elif must follow an if (or another elif)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Python checks each condition top to bottom and stops at the first True result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else (optional) catches everything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42900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elif_demo.py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555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name =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'Enter your name: 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 dirty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 dirty="0">
                <a:solidFill>
                  <a:srgbClr val="FFD43B"/>
                </a:solidFill>
                <a:latin typeface="Courier New"/>
              </a:rPr>
              <a:t>if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 name == 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‘</a:t>
            </a:r>
            <a:r>
              <a:rPr lang="en-GB" sz="1550" b="0" i="0" dirty="0">
                <a:solidFill>
                  <a:srgbClr val="8FD14F"/>
                </a:solidFill>
                <a:latin typeface="Courier New"/>
              </a:rPr>
              <a:t>Michael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'Hi again, boss!'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 dirty="0" err="1">
                <a:solidFill>
                  <a:srgbClr val="FFD43B"/>
                </a:solidFill>
                <a:latin typeface="Courier New"/>
              </a:rPr>
              <a:t>elif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 name == 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'someone else'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'Weird name'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 dirty="0">
                <a:solidFill>
                  <a:srgbClr val="FFD43B"/>
                </a:solidFill>
                <a:latin typeface="Courier New"/>
              </a:rPr>
              <a:t>else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 dirty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 dirty="0" err="1">
                <a:solidFill>
                  <a:srgbClr val="F4F7FA"/>
                </a:solidFill>
                <a:latin typeface="Courier New"/>
              </a:rPr>
              <a:t>f</a:t>
            </a:r>
            <a:r>
              <a:rPr sz="1550" b="0" i="0" dirty="0" err="1">
                <a:solidFill>
                  <a:srgbClr val="8FD14F"/>
                </a:solidFill>
                <a:latin typeface="Courier New"/>
              </a:rPr>
              <a:t>'Hello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, 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{name}</a:t>
            </a:r>
            <a:r>
              <a:rPr sz="1550" b="0" i="0" dirty="0">
                <a:solidFill>
                  <a:srgbClr val="8FD14F"/>
                </a:solidFill>
                <a:latin typeface="Courier New"/>
              </a:rPr>
              <a:t>.'</a:t>
            </a:r>
            <a:r>
              <a:rPr sz="1550" b="0" i="0" dirty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COMBINING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and, or, and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and — True only when both sides are True</a:t>
            </a:r>
          </a:p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or — True when at least one side is True</a:t>
            </a:r>
          </a:p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not — flips True to False, and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64807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8426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03719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020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and_or.py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377439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x, y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x ==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and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y ==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'Both match!'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D43B"/>
                </a:solidFill>
                <a:latin typeface="Arial"/>
              </a:rPr>
              <a:t>Truth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59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D43B"/>
                </a:solidFill>
                <a:latin typeface="Courier New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251959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D43B"/>
                </a:solidFill>
                <a:latin typeface="Courier New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251959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D43B"/>
                </a:solidFill>
                <a:latin typeface="Courier New"/>
              </a:rPr>
              <a:t>A and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4251959"/>
            <a:ext cx="2514600" cy="457200"/>
          </a:xfrm>
          <a:prstGeom prst="roundRect">
            <a:avLst>
              <a:gd name="adj" fmla="val 15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4251959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D43B"/>
                </a:solidFill>
                <a:latin typeface="Courier New"/>
              </a:rPr>
              <a:t>A or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8006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8006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80060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3951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23951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3951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23951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7842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67842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67842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5678424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4F7FA"/>
                </a:solidFill>
                <a:latin typeface="Courier New"/>
              </a:rPr>
              <a:t>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sh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NUMBERS,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Integers (int)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Whole numbers — as large or small as memory allows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// is floor division — always returns a whole number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% is modulo — the remainder after division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** raises to a power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x += 1 is shorthand for x = x + 1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integers.py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x, y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+ y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13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/ y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3.333... (float)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// y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3  (floor division)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% y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  (remainder)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** y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1000 (power)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NUMBERS,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Floats (float)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Numbers with a decimal point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Convert with float('123') or float(123)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Float math is slower than int math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Floats aren't perfectly accurate — binary can't represent every decimal exactly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floats.py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float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'123.45'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123.45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0.1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+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0.2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0.30000000000000004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 — rounding, not a bug!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TEXT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Strings (str) and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string is a sequence of characters, in '' or "" quotes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len(s) returns how many characters are in s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s[0] gets the character at index 0 — indexing starts at zero</a:t>
            </a:r>
          </a:p>
          <a:p>
            <a:pPr marL="310896" indent="-310896" algn="l">
              <a:lnSpc>
                <a:spcPct val="114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Negative indexes count from the end: s[-1] is the last 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strings.py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'abcdefgh'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len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(s)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8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s[0]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'a'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s[-1]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'h'  (last char)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'cd'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s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TEXT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Slicing and f-strings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slice s[start:stop] returns a new string from start up to (not including) stop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Leave off start or stop to go from the beginning or to the end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f-strings (f'...') let you drop variables straight into text with {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slice_fstring.py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'abcdefghijklmnop'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s[10:15]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'klmno'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s[:10]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from the start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s[8:]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to the end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x, y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'{x} + {y} = {x+y}'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ANOTHER KIND OF VERB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 method is a function tied to a value's type — called with a dot: value.method()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str.strip() removes leading/trailing whitespace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str.lower() / str.upper() change case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str.isdigit() checks if text is all digits, so it can safely be turned into an 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methods.py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name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'Name: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).strip()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'Number: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).strip()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s.isdigit():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n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(s)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'{n * 2}'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SESSION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1783080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Explain what a programming language and Python 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78024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414016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Assign values to variables and reassign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0896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3044952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Display output with print() and f-strings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73989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3675888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Capture user input with input()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06824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370832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4306824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Branch logic with if / elif / else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1783080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Combine conditions with and / or / not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47802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2414016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Work with int and float, and their quirks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10896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0" y="3044952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Index, slice, and search strings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739896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8000" y="3675888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4F7FA"/>
                </a:solidFill>
                <a:latin typeface="Arial"/>
              </a:rPr>
              <a:t>Call methods like .strip(), .lower(), .isdigit()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SESSION 2 —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4F7FA"/>
                </a:solidFill>
                <a:latin typeface="Arial"/>
              </a:rPr>
              <a:t>Ready to build on the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9235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Next up: collections that hold multiple values (lists, tuples,
dictionaries), loops, and writing your own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Fundamentals and Core Principles of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1618</Words>
  <Application>Microsoft Macintosh PowerPoint</Application>
  <PresentationFormat>Widescreen</PresentationFormat>
  <Paragraphs>265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Cade</cp:lastModifiedBy>
  <cp:revision>2</cp:revision>
  <dcterms:created xsi:type="dcterms:W3CDTF">2013-01-27T09:14:16Z</dcterms:created>
  <dcterms:modified xsi:type="dcterms:W3CDTF">2026-07-07T08:18:51Z</dcterms:modified>
  <cp:category/>
</cp:coreProperties>
</file>