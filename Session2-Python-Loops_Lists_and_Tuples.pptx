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y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960120"/>
            <a:ext cx="1463040" cy="1463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74320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D43B"/>
                </a:solidFill>
                <a:latin typeface="Arial"/>
              </a:rPr>
              <a:t>PYTHON TRAINING  ·  SESSION 2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400" b="1" i="0">
                <a:solidFill>
                  <a:srgbClr val="F4F7FA"/>
                </a:solidFill>
                <a:latin typeface="Arial"/>
              </a:rPr>
              <a:t>Loops, Lists, and Tuples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1">
                <a:solidFill>
                  <a:srgbClr val="93A6B8"/>
                </a:solidFill>
                <a:latin typeface="Arial"/>
              </a:rPr>
              <a:t>Building on the fundamentals — repetition and collections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Loops, Lists, and Tuples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01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gen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TODAY'S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What we'll cover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5120640" cy="1691640"/>
          </a:xfrm>
          <a:prstGeom prst="roundRect">
            <a:avLst>
              <a:gd name="adj" fmla="val 8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lo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75688"/>
            <a:ext cx="777240" cy="777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03120" y="2039112"/>
            <a:ext cx="36118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4F7FA"/>
                </a:solidFill>
                <a:latin typeface="Arial"/>
              </a:rPr>
              <a:t>1. Loops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560320"/>
            <a:ext cx="361187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3A6B8"/>
                </a:solidFill>
                <a:latin typeface="Arial"/>
              </a:rPr>
              <a:t>for, while, break, continue, and how iteration really works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120640" cy="1691640"/>
          </a:xfrm>
          <a:prstGeom prst="roundRect">
            <a:avLst>
              <a:gd name="adj" fmla="val 8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list_bracke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59" y="2075688"/>
            <a:ext cx="777240" cy="777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543800" y="2039112"/>
            <a:ext cx="36118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4F7FA"/>
                </a:solidFill>
                <a:latin typeface="Arial"/>
              </a:rPr>
              <a:t>2. Lists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2560320"/>
            <a:ext cx="361187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3A6B8"/>
                </a:solidFill>
                <a:latin typeface="Arial"/>
              </a:rPr>
              <a:t>creating, indexing, mutating, and growing collections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749039"/>
            <a:ext cx="5120640" cy="1691640"/>
          </a:xfrm>
          <a:prstGeom prst="roundRect">
            <a:avLst>
              <a:gd name="adj" fmla="val 8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spl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4041648"/>
            <a:ext cx="777240" cy="7772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103120" y="4005072"/>
            <a:ext cx="36118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4F7FA"/>
                </a:solidFill>
                <a:latin typeface="Arial"/>
              </a:rPr>
              <a:t>3. Strings ↔ lists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526279"/>
            <a:ext cx="361187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3A6B8"/>
                </a:solidFill>
                <a:latin typeface="Arial"/>
              </a:rPr>
              <a:t>str.split and str.join to convert back and forth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749039"/>
            <a:ext cx="5120640" cy="1691640"/>
          </a:xfrm>
          <a:prstGeom prst="roundRect">
            <a:avLst>
              <a:gd name="adj" fmla="val 8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tuple_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59" y="4041648"/>
            <a:ext cx="777240" cy="7772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543800" y="4005072"/>
            <a:ext cx="361187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F4F7FA"/>
                </a:solidFill>
                <a:latin typeface="Arial"/>
              </a:rPr>
              <a:t>4. Tuples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4526279"/>
            <a:ext cx="361187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93A6B8"/>
                </a:solidFill>
                <a:latin typeface="Arial"/>
              </a:rPr>
              <a:t>immutable sequences and tuple unpacking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Loops, Lists, and Tuples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02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qu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CORE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Why do we need loops?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20000"/>
              </a:lnSpc>
              <a:spcAft>
                <a:spcPts val="1400"/>
              </a:spcAft>
            </a:pPr>
            <a:r>
              <a:rPr sz="16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600" b="0" i="0">
                <a:solidFill>
                  <a:srgbClr val="F4F7FA"/>
                </a:solidFill>
                <a:latin typeface="Arial"/>
              </a:rPr>
              <a:t>DRY — Don't Repeat Yourself — is one of the most important rules in programming</a:t>
            </a:r>
          </a:p>
          <a:p>
            <a:pPr marL="310896" indent="-310896" algn="l">
              <a:lnSpc>
                <a:spcPct val="120000"/>
              </a:lnSpc>
              <a:spcAft>
                <a:spcPts val="1400"/>
              </a:spcAft>
            </a:pPr>
            <a:r>
              <a:rPr sz="16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600" b="0" i="0">
                <a:solidFill>
                  <a:srgbClr val="F4F7FA"/>
                </a:solidFill>
                <a:latin typeface="Arial"/>
              </a:rPr>
              <a:t>Repeating near-identical lines of code is a signal there's a better way</a:t>
            </a:r>
          </a:p>
          <a:p>
            <a:pPr marL="310896" indent="-310896" algn="l">
              <a:lnSpc>
                <a:spcPct val="120000"/>
              </a:lnSpc>
              <a:spcAft>
                <a:spcPts val="1400"/>
              </a:spcAft>
            </a:pPr>
            <a:r>
              <a:rPr sz="16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600" b="0" i="0">
                <a:solidFill>
                  <a:srgbClr val="F4F7FA"/>
                </a:solidFill>
                <a:latin typeface="Arial"/>
              </a:rPr>
              <a:t>A loop repeats a block of code for you, once per item or once per condition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10896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0" y="210312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D43B"/>
                </a:solidFill>
                <a:latin typeface="Arial"/>
              </a:rPr>
              <a:t>WITHOUT A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423160"/>
            <a:ext cx="42062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F4F7FA"/>
                </a:solidFill>
                <a:latin typeface="Courier New"/>
              </a:rPr>
              <a:t>print(s[0])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F4F7FA"/>
                </a:solidFill>
                <a:latin typeface="Courier New"/>
              </a:rPr>
              <a:t>print(s[1])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F4F7FA"/>
                </a:solidFill>
                <a:latin typeface="Courier New"/>
              </a:rPr>
              <a:t>print(s[2])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F4F7FA"/>
                </a:solidFill>
                <a:latin typeface="Courier New"/>
              </a:rPr>
              <a:t>print(s[3])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794760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D43B"/>
                </a:solidFill>
                <a:latin typeface="Arial"/>
              </a:rPr>
              <a:t>WITH A 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114800"/>
            <a:ext cx="4206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1" i="0">
                <a:solidFill>
                  <a:srgbClr val="FFD43B"/>
                </a:solidFill>
                <a:latin typeface="Courier New"/>
              </a:rPr>
              <a:t>for</a:t>
            </a:r>
            <a:r>
              <a:rPr sz="1450" b="0" i="0">
                <a:solidFill>
                  <a:srgbClr val="F4F7FA"/>
                </a:solidFill>
                <a:latin typeface="Courier New"/>
              </a:rPr>
              <a:t> one_character </a:t>
            </a:r>
            <a:r>
              <a:rPr sz="1450" b="1" i="0">
                <a:solidFill>
                  <a:srgbClr val="FFD43B"/>
                </a:solidFill>
                <a:latin typeface="Courier New"/>
              </a:rPr>
              <a:t>in</a:t>
            </a:r>
            <a:r>
              <a:rPr sz="1450" b="0" i="0">
                <a:solidFill>
                  <a:srgbClr val="F4F7FA"/>
                </a:solidFill>
                <a:latin typeface="Courier New"/>
              </a:rPr>
              <a:t> s: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F4F7FA"/>
                </a:solidFill>
                <a:latin typeface="Courier New"/>
              </a:rPr>
              <a:t>    </a:t>
            </a:r>
            <a:r>
              <a:rPr sz="1450" b="1" i="0">
                <a:solidFill>
                  <a:srgbClr val="4B8BBE"/>
                </a:solidFill>
                <a:latin typeface="Courier New"/>
              </a:rPr>
              <a:t>print</a:t>
            </a:r>
            <a:r>
              <a:rPr sz="1450" b="0" i="0">
                <a:solidFill>
                  <a:srgbClr val="F4F7FA"/>
                </a:solidFill>
                <a:latin typeface="Courier New"/>
              </a:rPr>
              <a:t>(one_character)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Loops, Lists, and Tuples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03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LOOPS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The for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5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Starts with the keyword for</a:t>
            </a:r>
          </a:p>
          <a:p>
            <a:pPr marL="310896" indent="-310896" algn="l">
              <a:lnSpc>
                <a:spcPct val="115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Next is the loop variable — it gets a new value each time round</a:t>
            </a:r>
          </a:p>
          <a:p>
            <a:pPr marL="310896" indent="-310896" algn="l">
              <a:lnSpc>
                <a:spcPct val="115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Then the keyword in, followed by the iterable you're looping over</a:t>
            </a:r>
          </a:p>
          <a:p>
            <a:pPr marL="310896" indent="-310896" algn="l">
              <a:lnSpc>
                <a:spcPct val="115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The line ends with a colon, and the block is indented — just like if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10896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39128" y="2075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58584" y="2075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78040" y="2075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208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for_loop.py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377439"/>
            <a:ext cx="4297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s =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'abcd'</a:t>
            </a:r>
          </a:p>
          <a:p>
            <a:pPr algn="l">
              <a:lnSpc>
                <a:spcPct val="135000"/>
              </a:lnSpc>
            </a:pPr>
            <a:endParaRPr sz="1550" b="0" i="0">
              <a:solidFill>
                <a:srgbClr val="8FD14F"/>
              </a:solidFill>
              <a:latin typeface="Courier New"/>
            </a:endParaRPr>
          </a:p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FFD43B"/>
                </a:solidFill>
                <a:latin typeface="Courier New"/>
              </a:rPr>
              <a:t>for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one_character </a:t>
            </a:r>
            <a:r>
              <a:rPr sz="1550" b="1" i="0">
                <a:solidFill>
                  <a:srgbClr val="FFD43B"/>
                </a:solidFill>
                <a:latin typeface="Courier New"/>
              </a:rPr>
              <a:t>in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s: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    </a:t>
            </a:r>
            <a:r>
              <a:rPr sz="1550" b="1" i="0">
                <a:solidFill>
                  <a:srgbClr val="4B8BBE"/>
                </a:solidFill>
                <a:latin typeface="Courier New"/>
              </a:rPr>
              <a:t>print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(one_character)</a:t>
            </a:r>
          </a:p>
          <a:p>
            <a:pPr algn="l">
              <a:lnSpc>
                <a:spcPct val="135000"/>
              </a:lnSpc>
            </a:pPr>
            <a:r>
              <a:rPr sz="1550" b="0" i="1">
                <a:solidFill>
                  <a:srgbClr val="62778C"/>
                </a:solidFill>
                <a:latin typeface="Courier New"/>
              </a:rPr>
              <a:t># a</a:t>
            </a:r>
          </a:p>
          <a:p>
            <a:pPr algn="l">
              <a:lnSpc>
                <a:spcPct val="135000"/>
              </a:lnSpc>
            </a:pPr>
            <a:r>
              <a:rPr sz="1550" b="0" i="1">
                <a:solidFill>
                  <a:srgbClr val="62778C"/>
                </a:solidFill>
                <a:latin typeface="Courier New"/>
              </a:rPr>
              <a:t># b</a:t>
            </a:r>
          </a:p>
          <a:p>
            <a:pPr algn="l">
              <a:lnSpc>
                <a:spcPct val="135000"/>
              </a:lnSpc>
            </a:pPr>
            <a:r>
              <a:rPr sz="1550" b="0" i="1">
                <a:solidFill>
                  <a:srgbClr val="62778C"/>
                </a:solidFill>
                <a:latin typeface="Courier New"/>
              </a:rPr>
              <a:t># c</a:t>
            </a:r>
          </a:p>
          <a:p>
            <a:pPr algn="l">
              <a:lnSpc>
                <a:spcPct val="135000"/>
              </a:lnSpc>
            </a:pPr>
            <a:r>
              <a:rPr sz="1550" b="0" i="1">
                <a:solidFill>
                  <a:srgbClr val="62778C"/>
                </a:solidFill>
                <a:latin typeface="Courier New"/>
              </a:rPr>
              <a:t># 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Loops, Lists, and Tuples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04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ite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BEHIND THE SCENES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The for loop's conversation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658368"/>
          </a:xfrm>
          <a:prstGeom prst="roundRect">
            <a:avLst>
              <a:gd name="adj" fmla="val 18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50976" y="196596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50976" y="196596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4F7FA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1828800"/>
            <a:ext cx="96926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F4F7FA"/>
                </a:solidFill>
                <a:latin typeface="Arial"/>
              </a:rPr>
              <a:t>for turns to the value at the end of the line and asks: are you iterable?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633472"/>
            <a:ext cx="10515600" cy="658368"/>
          </a:xfrm>
          <a:prstGeom prst="roundRect">
            <a:avLst>
              <a:gd name="adj" fmla="val 18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50976" y="277063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27706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4F7FA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633472"/>
            <a:ext cx="96926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F4F7FA"/>
                </a:solidFill>
                <a:latin typeface="Arial"/>
              </a:rPr>
              <a:t>Not iterable? The loop exits immediately with a TypeError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438144"/>
            <a:ext cx="10515600" cy="658368"/>
          </a:xfrm>
          <a:prstGeom prst="roundRect">
            <a:avLst>
              <a:gd name="adj" fmla="val 18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50976" y="3575303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0976" y="3575303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4F7FA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438144"/>
            <a:ext cx="96926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F4F7FA"/>
                </a:solidFill>
                <a:latin typeface="Arial"/>
              </a:rPr>
              <a:t>Iterable? for asks it for its next value, and runs the block with 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242816"/>
            <a:ext cx="10515600" cy="658368"/>
          </a:xfrm>
          <a:prstGeom prst="roundRect">
            <a:avLst>
              <a:gd name="adj" fmla="val 18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50976" y="437997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4B8B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0976" y="437997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4F7FA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4242816"/>
            <a:ext cx="9692640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 i="0">
                <a:solidFill>
                  <a:srgbClr val="F4F7FA"/>
                </a:solidFill>
                <a:latin typeface="Arial"/>
              </a:rPr>
              <a:t>No more values left? The loop ends quietly and the program moves 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Loops, Lists, and Tuples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05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hash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REPEATING N TIMES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The range() function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5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Integers aren't iterable — you can't for loop directly over a number</a:t>
            </a:r>
          </a:p>
          <a:p>
            <a:pPr marL="310896" indent="-310896" algn="l">
              <a:lnSpc>
                <a:spcPct val="115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range(n) hands the loop n values to iterate over</a:t>
            </a:r>
          </a:p>
          <a:p>
            <a:pPr marL="310896" indent="-310896" algn="l">
              <a:lnSpc>
                <a:spcPct val="115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Those values start at 0 and go up to (not including) n</a:t>
            </a:r>
          </a:p>
          <a:p>
            <a:pPr marL="310896" indent="-310896" algn="l">
              <a:lnSpc>
                <a:spcPct val="115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Assign the loop variable if you need it — otherwise it's fine to ignore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10896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39128" y="2075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58584" y="2075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78040" y="2075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208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range_demo.py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377439"/>
            <a:ext cx="4297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FFD43B"/>
                </a:solidFill>
                <a:latin typeface="Courier New"/>
              </a:rPr>
              <a:t>for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one_time </a:t>
            </a:r>
            <a:r>
              <a:rPr sz="1550" b="1" i="0">
                <a:solidFill>
                  <a:srgbClr val="FFD43B"/>
                </a:solidFill>
                <a:latin typeface="Courier New"/>
              </a:rPr>
              <a:t>in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</a:t>
            </a:r>
            <a:r>
              <a:rPr sz="1550" b="1" i="0">
                <a:solidFill>
                  <a:srgbClr val="4B8BBE"/>
                </a:solidFill>
                <a:latin typeface="Courier New"/>
              </a:rPr>
              <a:t>range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3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):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    </a:t>
            </a:r>
            <a:r>
              <a:rPr sz="1550" b="1" i="0">
                <a:solidFill>
                  <a:srgbClr val="4B8BBE"/>
                </a:solidFill>
                <a:latin typeface="Courier New"/>
              </a:rPr>
              <a:t>print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'Hooray!'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)</a:t>
            </a:r>
          </a:p>
          <a:p>
            <a:pPr algn="l">
              <a:lnSpc>
                <a:spcPct val="135000"/>
              </a:lnSpc>
            </a:pPr>
            <a:endParaRPr sz="1550" b="0" i="0">
              <a:solidFill>
                <a:srgbClr val="F4F7FA"/>
              </a:solidFill>
              <a:latin typeface="Courier New"/>
            </a:endParaRPr>
          </a:p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FFD43B"/>
                </a:solidFill>
                <a:latin typeface="Courier New"/>
              </a:rPr>
              <a:t>for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count </a:t>
            </a:r>
            <a:r>
              <a:rPr sz="1550" b="1" i="0">
                <a:solidFill>
                  <a:srgbClr val="FFD43B"/>
                </a:solidFill>
                <a:latin typeface="Courier New"/>
              </a:rPr>
              <a:t>in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</a:t>
            </a:r>
            <a:r>
              <a:rPr sz="1550" b="1" i="0">
                <a:solidFill>
                  <a:srgbClr val="4B8BBE"/>
                </a:solidFill>
                <a:latin typeface="Courier New"/>
              </a:rPr>
              <a:t>range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3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):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    </a:t>
            </a:r>
            <a:r>
              <a:rPr sz="1550" b="1" i="0">
                <a:solidFill>
                  <a:srgbClr val="4B8BBE"/>
                </a:solidFill>
                <a:latin typeface="Courier New"/>
              </a:rPr>
              <a:t>print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(count)</a:t>
            </a:r>
          </a:p>
          <a:p>
            <a:pPr algn="l">
              <a:lnSpc>
                <a:spcPct val="135000"/>
              </a:lnSpc>
            </a:pPr>
            <a:r>
              <a:rPr sz="1550" b="0" i="1">
                <a:solidFill>
                  <a:srgbClr val="62778C"/>
                </a:solidFill>
                <a:latin typeface="Courier New"/>
              </a:rPr>
              <a:t># 0</a:t>
            </a:r>
          </a:p>
          <a:p>
            <a:pPr algn="l">
              <a:lnSpc>
                <a:spcPct val="135000"/>
              </a:lnSpc>
            </a:pPr>
            <a:r>
              <a:rPr sz="1550" b="0" i="1">
                <a:solidFill>
                  <a:srgbClr val="62778C"/>
                </a:solidFill>
                <a:latin typeface="Courier New"/>
              </a:rPr>
              <a:t># 1</a:t>
            </a:r>
          </a:p>
          <a:p>
            <a:pPr algn="l">
              <a:lnSpc>
                <a:spcPct val="135000"/>
              </a:lnSpc>
            </a:pPr>
            <a:r>
              <a:rPr sz="1550" b="0" i="1">
                <a:solidFill>
                  <a:srgbClr val="62778C"/>
                </a:solidFill>
                <a:latin typeface="Courier New"/>
              </a:rPr>
              <a:t>#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Loops, Lists, and Tuples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06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INDEXES (OR THE LACK THEREOF)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Manual index vs. enumerate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F4F7FA"/>
                </a:solidFill>
                <a:latin typeface="Arial"/>
              </a:rPr>
              <a:t>Python for loops don't hand you an index by default — </a:t>
            </a:r>
            <a:r>
              <a:rPr sz="1500" b="0" i="0">
                <a:solidFill>
                  <a:srgbClr val="8FD14F"/>
                </a:solidFill>
                <a:latin typeface="Arial"/>
              </a:rPr>
              <a:t>enumerate()</a:t>
            </a:r>
            <a:r>
              <a:rPr sz="1500" b="0" i="0">
                <a:solidFill>
                  <a:srgbClr val="F4F7FA"/>
                </a:solidFill>
                <a:latin typeface="Arial"/>
              </a:rPr>
              <a:t> gives you both index and value together.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423160"/>
            <a:ext cx="5120640" cy="260604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4128" y="262432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243584" y="262432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463040" y="262432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56946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manual_index.py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926080"/>
            <a:ext cx="4572000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F4F7FA"/>
                </a:solidFill>
                <a:latin typeface="Courier New"/>
              </a:rPr>
              <a:t>index = </a:t>
            </a:r>
            <a:r>
              <a:rPr sz="1400" b="0" i="0">
                <a:solidFill>
                  <a:srgbClr val="8FD14F"/>
                </a:solidFill>
                <a:latin typeface="Courier New"/>
              </a:rPr>
              <a:t>0</a:t>
            </a:r>
          </a:p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FFD43B"/>
                </a:solidFill>
                <a:latin typeface="Courier New"/>
              </a:rPr>
              <a:t>for</a:t>
            </a:r>
            <a:r>
              <a:rPr sz="1400" b="0" i="0">
                <a:solidFill>
                  <a:srgbClr val="F4F7FA"/>
                </a:solidFill>
                <a:latin typeface="Courier New"/>
              </a:rPr>
              <a:t> ch </a:t>
            </a:r>
            <a:r>
              <a:rPr sz="1400" b="1" i="0">
                <a:solidFill>
                  <a:srgbClr val="FFD43B"/>
                </a:solidFill>
                <a:latin typeface="Courier New"/>
              </a:rPr>
              <a:t>in</a:t>
            </a:r>
            <a:r>
              <a:rPr sz="1400" b="0" i="0">
                <a:solidFill>
                  <a:srgbClr val="F4F7FA"/>
                </a:solidFill>
                <a:latin typeface="Courier New"/>
              </a:rPr>
              <a:t> text: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F4F7FA"/>
                </a:solidFill>
                <a:latin typeface="Courier New"/>
              </a:rPr>
              <a:t>    </a:t>
            </a:r>
            <a:r>
              <a:rPr sz="1400" b="1" i="0">
                <a:solidFill>
                  <a:srgbClr val="4B8BBE"/>
                </a:solidFill>
                <a:latin typeface="Courier New"/>
              </a:rPr>
              <a:t>print</a:t>
            </a:r>
            <a:r>
              <a:rPr sz="1400" b="0" i="0">
                <a:solidFill>
                  <a:srgbClr val="F4F7FA"/>
                </a:solidFill>
                <a:latin typeface="Courier New"/>
              </a:rPr>
              <a:t>(f</a:t>
            </a:r>
            <a:r>
              <a:rPr sz="1400" b="0" i="0">
                <a:solidFill>
                  <a:srgbClr val="8FD14F"/>
                </a:solidFill>
                <a:latin typeface="Courier New"/>
              </a:rPr>
              <a:t>'{index}: {ch}'</a:t>
            </a:r>
            <a:r>
              <a:rPr sz="1400" b="0" i="0">
                <a:solidFill>
                  <a:srgbClr val="F4F7FA"/>
                </a:solidFill>
                <a:latin typeface="Courier New"/>
              </a:rPr>
              <a:t>)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F4F7FA"/>
                </a:solidFill>
                <a:latin typeface="Courier New"/>
              </a:rPr>
              <a:t>    index += </a:t>
            </a:r>
            <a:r>
              <a:rPr sz="1400" b="0" i="0">
                <a:solidFill>
                  <a:srgbClr val="8FD14F"/>
                </a:solidFill>
                <a:latin typeface="Courier New"/>
              </a:rP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423160"/>
            <a:ext cx="5120640" cy="260604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464807" y="262432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684264" y="262432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903719" y="262432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256946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enumerate.py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6248" y="2926080"/>
            <a:ext cx="4572000" cy="1965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FFD43B"/>
                </a:solidFill>
                <a:latin typeface="Courier New"/>
              </a:rPr>
              <a:t>for</a:t>
            </a:r>
            <a:r>
              <a:rPr sz="1400" b="0" i="0">
                <a:solidFill>
                  <a:srgbClr val="F4F7FA"/>
                </a:solidFill>
                <a:latin typeface="Courier New"/>
              </a:rPr>
              <a:t> index, ch </a:t>
            </a:r>
            <a:r>
              <a:rPr sz="1400" b="1" i="0">
                <a:solidFill>
                  <a:srgbClr val="FFD43B"/>
                </a:solidFill>
                <a:latin typeface="Courier New"/>
              </a:rPr>
              <a:t>in</a:t>
            </a:r>
            <a:r>
              <a:rPr sz="1400" b="0" i="0">
                <a:solidFill>
                  <a:srgbClr val="F4F7FA"/>
                </a:solidFill>
                <a:latin typeface="Courier New"/>
              </a:rPr>
              <a:t> </a:t>
            </a:r>
            <a:r>
              <a:rPr sz="1400" b="1" i="0">
                <a:solidFill>
                  <a:srgbClr val="4B8BBE"/>
                </a:solidFill>
                <a:latin typeface="Courier New"/>
              </a:rPr>
              <a:t>enumerate</a:t>
            </a:r>
            <a:r>
              <a:rPr sz="1400" b="0" i="0">
                <a:solidFill>
                  <a:srgbClr val="F4F7FA"/>
                </a:solidFill>
                <a:latin typeface="Courier New"/>
              </a:rPr>
              <a:t>(text):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F4F7FA"/>
                </a:solidFill>
                <a:latin typeface="Courier New"/>
              </a:rPr>
              <a:t>    </a:t>
            </a:r>
            <a:r>
              <a:rPr sz="1400" b="1" i="0">
                <a:solidFill>
                  <a:srgbClr val="4B8BBE"/>
                </a:solidFill>
                <a:latin typeface="Courier New"/>
              </a:rPr>
              <a:t>print</a:t>
            </a:r>
            <a:r>
              <a:rPr sz="1400" b="0" i="0">
                <a:solidFill>
                  <a:srgbClr val="F4F7FA"/>
                </a:solidFill>
                <a:latin typeface="Courier New"/>
              </a:rPr>
              <a:t>(f</a:t>
            </a:r>
            <a:r>
              <a:rPr sz="1400" b="0" i="0">
                <a:solidFill>
                  <a:srgbClr val="8FD14F"/>
                </a:solidFill>
                <a:latin typeface="Courier New"/>
              </a:rPr>
              <a:t>'{index}: {ch}'</a:t>
            </a:r>
            <a:r>
              <a:rPr sz="1400" b="0" i="0">
                <a:solidFill>
                  <a:srgbClr val="F4F7FA"/>
                </a:solidFill>
                <a:latin typeface="Courier New"/>
              </a:rPr>
              <a:t>)</a:t>
            </a:r>
          </a:p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62778C"/>
                </a:solidFill>
                <a:latin typeface="Courier New"/>
              </a:rPr>
              <a:t># 0: a</a:t>
            </a:r>
          </a:p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62778C"/>
                </a:solidFill>
                <a:latin typeface="Courier New"/>
              </a:rPr>
              <a:t># 1: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Loops, Lists, and Tuples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07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CONTROLLING YOUR LOOPS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break and continue</a:t>
            </a:r>
          </a:p>
        </p:txBody>
      </p:sp>
      <p:pic>
        <p:nvPicPr>
          <p:cNvPr id="5" name="Picture 4" descr="s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5720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19659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D43B"/>
                </a:solidFill>
                <a:latin typeface="Arial"/>
              </a:rPr>
              <a:t>break</a:t>
            </a:r>
            <a:r>
              <a:rPr sz="1500" b="0" i="0">
                <a:solidFill>
                  <a:srgbClr val="F4F7FA"/>
                </a:solidFill>
                <a:latin typeface="Arial"/>
              </a:rPr>
              <a:t> — exit the loop right now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5120640" cy="251460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24128" y="271576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243584" y="271576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463040" y="271576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66090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break_demo.py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017520"/>
            <a:ext cx="4572000" cy="1874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FFD43B"/>
                </a:solidFill>
                <a:latin typeface="Courier New"/>
              </a:rPr>
              <a:t>for</a:t>
            </a:r>
            <a:r>
              <a:rPr sz="1400" b="0" i="0">
                <a:solidFill>
                  <a:srgbClr val="F4F7FA"/>
                </a:solidFill>
                <a:latin typeface="Courier New"/>
              </a:rPr>
              <a:t> ch </a:t>
            </a:r>
            <a:r>
              <a:rPr sz="1400" b="1" i="0">
                <a:solidFill>
                  <a:srgbClr val="FFD43B"/>
                </a:solidFill>
                <a:latin typeface="Courier New"/>
              </a:rPr>
              <a:t>in</a:t>
            </a:r>
            <a:r>
              <a:rPr sz="1400" b="0" i="0">
                <a:solidFill>
                  <a:srgbClr val="F4F7FA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8FD14F"/>
                </a:solidFill>
                <a:latin typeface="Courier New"/>
              </a:rPr>
              <a:t>'abcde'</a:t>
            </a:r>
            <a:r>
              <a:rPr sz="1400" b="0" i="0">
                <a:solidFill>
                  <a:srgbClr val="F4F7FA"/>
                </a:solidFill>
                <a:latin typeface="Courier New"/>
              </a:rPr>
              <a:t>: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F4F7FA"/>
                </a:solidFill>
                <a:latin typeface="Courier New"/>
              </a:rPr>
              <a:t>    </a:t>
            </a:r>
            <a:r>
              <a:rPr sz="1400" b="1" i="0">
                <a:solidFill>
                  <a:srgbClr val="FFD43B"/>
                </a:solidFill>
                <a:latin typeface="Courier New"/>
              </a:rPr>
              <a:t>if</a:t>
            </a:r>
            <a:r>
              <a:rPr sz="1400" b="0" i="0">
                <a:solidFill>
                  <a:srgbClr val="F4F7FA"/>
                </a:solidFill>
                <a:latin typeface="Courier New"/>
              </a:rPr>
              <a:t> ch == </a:t>
            </a:r>
            <a:r>
              <a:rPr sz="1400" b="0" i="0">
                <a:solidFill>
                  <a:srgbClr val="8FD14F"/>
                </a:solidFill>
                <a:latin typeface="Courier New"/>
              </a:rPr>
              <a:t>'c'</a:t>
            </a:r>
            <a:r>
              <a:rPr sz="1400" b="0" i="0">
                <a:solidFill>
                  <a:srgbClr val="F4F7FA"/>
                </a:solidFill>
                <a:latin typeface="Courier New"/>
              </a:rPr>
              <a:t>: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F4F7FA"/>
                </a:solidFill>
                <a:latin typeface="Courier New"/>
              </a:rPr>
              <a:t>        </a:t>
            </a:r>
            <a:r>
              <a:rPr sz="1400" b="1" i="0">
                <a:solidFill>
                  <a:srgbClr val="FFD43B"/>
                </a:solidFill>
                <a:latin typeface="Courier New"/>
              </a:rPr>
              <a:t>break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F4F7FA"/>
                </a:solidFill>
                <a:latin typeface="Courier New"/>
              </a:rPr>
              <a:t>    </a:t>
            </a:r>
            <a:r>
              <a:rPr sz="1400" b="1" i="0">
                <a:solidFill>
                  <a:srgbClr val="4B8BBE"/>
                </a:solidFill>
                <a:latin typeface="Courier New"/>
              </a:rPr>
              <a:t>print</a:t>
            </a:r>
            <a:r>
              <a:rPr sz="1400" b="0" i="0">
                <a:solidFill>
                  <a:srgbClr val="F4F7FA"/>
                </a:solidFill>
                <a:latin typeface="Courier New"/>
              </a:rPr>
              <a:t>(ch)</a:t>
            </a:r>
          </a:p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62778C"/>
                </a:solidFill>
                <a:latin typeface="Courier New"/>
              </a:rPr>
              <a:t># a</a:t>
            </a:r>
          </a:p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62778C"/>
                </a:solidFill>
                <a:latin typeface="Courier New"/>
              </a:rPr>
              <a:t># b</a:t>
            </a:r>
          </a:p>
        </p:txBody>
      </p:sp>
      <p:pic>
        <p:nvPicPr>
          <p:cNvPr id="13" name="Picture 12" descr="sk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965960"/>
            <a:ext cx="45720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8000" y="19659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FFD43B"/>
                </a:solidFill>
                <a:latin typeface="Arial"/>
              </a:rPr>
              <a:t>continue</a:t>
            </a:r>
            <a:r>
              <a:rPr sz="1500" b="0" i="0">
                <a:solidFill>
                  <a:srgbClr val="F4F7FA"/>
                </a:solidFill>
                <a:latin typeface="Arial"/>
              </a:rPr>
              <a:t> — skip to the next one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514600"/>
            <a:ext cx="5120640" cy="251460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464807" y="271576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684264" y="271576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903719" y="271576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63640" y="266090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continue_demo.py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3017520"/>
            <a:ext cx="4572000" cy="1874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FFD43B"/>
                </a:solidFill>
                <a:latin typeface="Courier New"/>
              </a:rPr>
              <a:t>for</a:t>
            </a:r>
            <a:r>
              <a:rPr sz="1400" b="0" i="0">
                <a:solidFill>
                  <a:srgbClr val="F4F7FA"/>
                </a:solidFill>
                <a:latin typeface="Courier New"/>
              </a:rPr>
              <a:t> ch </a:t>
            </a:r>
            <a:r>
              <a:rPr sz="1400" b="1" i="0">
                <a:solidFill>
                  <a:srgbClr val="FFD43B"/>
                </a:solidFill>
                <a:latin typeface="Courier New"/>
              </a:rPr>
              <a:t>in</a:t>
            </a:r>
            <a:r>
              <a:rPr sz="1400" b="0" i="0">
                <a:solidFill>
                  <a:srgbClr val="F4F7FA"/>
                </a:solidFill>
                <a:latin typeface="Courier New"/>
              </a:rPr>
              <a:t> </a:t>
            </a:r>
            <a:r>
              <a:rPr sz="1400" b="0" i="0">
                <a:solidFill>
                  <a:srgbClr val="8FD14F"/>
                </a:solidFill>
                <a:latin typeface="Courier New"/>
              </a:rPr>
              <a:t>'abcde'</a:t>
            </a:r>
            <a:r>
              <a:rPr sz="1400" b="0" i="0">
                <a:solidFill>
                  <a:srgbClr val="F4F7FA"/>
                </a:solidFill>
                <a:latin typeface="Courier New"/>
              </a:rPr>
              <a:t>: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F4F7FA"/>
                </a:solidFill>
                <a:latin typeface="Courier New"/>
              </a:rPr>
              <a:t>    </a:t>
            </a:r>
            <a:r>
              <a:rPr sz="1400" b="1" i="0">
                <a:solidFill>
                  <a:srgbClr val="FFD43B"/>
                </a:solidFill>
                <a:latin typeface="Courier New"/>
              </a:rPr>
              <a:t>if</a:t>
            </a:r>
            <a:r>
              <a:rPr sz="1400" b="0" i="0">
                <a:solidFill>
                  <a:srgbClr val="F4F7FA"/>
                </a:solidFill>
                <a:latin typeface="Courier New"/>
              </a:rPr>
              <a:t> ch == </a:t>
            </a:r>
            <a:r>
              <a:rPr sz="1400" b="0" i="0">
                <a:solidFill>
                  <a:srgbClr val="8FD14F"/>
                </a:solidFill>
                <a:latin typeface="Courier New"/>
              </a:rPr>
              <a:t>'c'</a:t>
            </a:r>
            <a:r>
              <a:rPr sz="1400" b="0" i="0">
                <a:solidFill>
                  <a:srgbClr val="F4F7FA"/>
                </a:solidFill>
                <a:latin typeface="Courier New"/>
              </a:rPr>
              <a:t>: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F4F7FA"/>
                </a:solidFill>
                <a:latin typeface="Courier New"/>
              </a:rPr>
              <a:t>        </a:t>
            </a:r>
            <a:r>
              <a:rPr sz="1400" b="1" i="0">
                <a:solidFill>
                  <a:srgbClr val="FFD43B"/>
                </a:solidFill>
                <a:latin typeface="Courier New"/>
              </a:rPr>
              <a:t>continue</a:t>
            </a:r>
          </a:p>
          <a:p>
            <a:pPr algn="l">
              <a:lnSpc>
                <a:spcPct val="135000"/>
              </a:lnSpc>
            </a:pPr>
            <a:r>
              <a:rPr sz="1400" b="0" i="0">
                <a:solidFill>
                  <a:srgbClr val="F4F7FA"/>
                </a:solidFill>
                <a:latin typeface="Courier New"/>
              </a:rPr>
              <a:t>    </a:t>
            </a:r>
            <a:r>
              <a:rPr sz="1400" b="1" i="0">
                <a:solidFill>
                  <a:srgbClr val="4B8BBE"/>
                </a:solidFill>
                <a:latin typeface="Courier New"/>
              </a:rPr>
              <a:t>print</a:t>
            </a:r>
            <a:r>
              <a:rPr sz="1400" b="0" i="0">
                <a:solidFill>
                  <a:srgbClr val="F4F7FA"/>
                </a:solidFill>
                <a:latin typeface="Courier New"/>
              </a:rPr>
              <a:t>(ch)</a:t>
            </a:r>
          </a:p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62778C"/>
                </a:solidFill>
                <a:latin typeface="Courier New"/>
              </a:rPr>
              <a:t># a b d 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Loops, Lists, and Tuples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08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THE OTHER KIND OF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while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5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for loops run over a known set of values</a:t>
            </a:r>
          </a:p>
          <a:p>
            <a:pPr marL="310896" indent="-310896" algn="l">
              <a:lnSpc>
                <a:spcPct val="115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while loops run for as long as a condition stays True</a:t>
            </a:r>
          </a:p>
          <a:p>
            <a:pPr marL="310896" indent="-310896" algn="l">
              <a:lnSpc>
                <a:spcPct val="115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Use while when you don't know how many iterations you'll need</a:t>
            </a:r>
          </a:p>
          <a:p>
            <a:pPr marL="310896" indent="-310896" algn="l">
              <a:lnSpc>
                <a:spcPct val="115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Always make sure the condition can eventually become False —
otherwise you get an infinite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10896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39128" y="2075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58584" y="2075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78040" y="2075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208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while_demo.py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377439"/>
            <a:ext cx="4297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x =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5</a:t>
            </a:r>
          </a:p>
          <a:p>
            <a:pPr algn="l">
              <a:lnSpc>
                <a:spcPct val="135000"/>
              </a:lnSpc>
            </a:pPr>
            <a:endParaRPr sz="1550" b="0" i="0">
              <a:solidFill>
                <a:srgbClr val="8FD14F"/>
              </a:solidFill>
              <a:latin typeface="Courier New"/>
            </a:endParaRPr>
          </a:p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FFD43B"/>
                </a:solidFill>
                <a:latin typeface="Courier New"/>
              </a:rPr>
              <a:t>while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x &gt;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: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    </a:t>
            </a:r>
            <a:r>
              <a:rPr sz="1550" b="1" i="0">
                <a:solidFill>
                  <a:srgbClr val="4B8BBE"/>
                </a:solidFill>
                <a:latin typeface="Courier New"/>
              </a:rPr>
              <a:t>print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(x)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    x -=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1</a:t>
            </a:r>
          </a:p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4B8BBE"/>
                </a:solidFill>
                <a:latin typeface="Courier New"/>
              </a:rPr>
              <a:t>print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'Done'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Loops, Lists, and Tuples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09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ist_brack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LISTS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What is a list?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A collection — it holds other values, as many as you want</a:t>
            </a:r>
          </a:p>
          <a:p>
            <a:pPr marL="310896" indent="-310896" algn="l"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Defined with [ ], elements separated by commas</a:t>
            </a:r>
          </a:p>
          <a:p>
            <a:pPr marL="310896" indent="-310896" algn="l"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Indexing and slicing work just like strings: list[0], list[-1], list[3:7]</a:t>
            </a:r>
          </a:p>
          <a:p>
            <a:pPr marL="310896" indent="-310896" algn="l"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len() and in work the same way too</a:t>
            </a:r>
          </a:p>
          <a:p>
            <a:pPr marL="310896" indent="-310896" algn="l">
              <a:lnSpc>
                <a:spcPct val="112000"/>
              </a:lnSpc>
              <a:spcAft>
                <a:spcPts val="1000"/>
              </a:spcAft>
            </a:pPr>
            <a:r>
              <a:rPr sz="15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00" b="0" i="0">
                <a:solidFill>
                  <a:srgbClr val="F4F7FA"/>
                </a:solidFill>
                <a:latin typeface="Arial"/>
              </a:rPr>
              <a:t>Loop over it directly: for item in mylist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10896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39128" y="2075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58584" y="2075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78040" y="2075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208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lists.py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377439"/>
            <a:ext cx="4297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mylist = [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10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,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20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,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30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,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40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,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50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]</a:t>
            </a:r>
          </a:p>
          <a:p>
            <a:pPr algn="l">
              <a:lnSpc>
                <a:spcPct val="135000"/>
              </a:lnSpc>
            </a:pPr>
            <a:r>
              <a:rPr sz="1550" b="1" i="0">
                <a:solidFill>
                  <a:srgbClr val="4B8BBE"/>
                </a:solidFill>
                <a:latin typeface="Courier New"/>
              </a:rPr>
              <a:t>len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(mylist)   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5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mylist[0]     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10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mylist[-1]    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50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mylist[1:3]   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[20, 30]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8FD14F"/>
                </a:solidFill>
                <a:latin typeface="Courier New"/>
              </a:rPr>
              <a:t>40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</a:t>
            </a:r>
            <a:r>
              <a:rPr sz="1550" b="1" i="0">
                <a:solidFill>
                  <a:srgbClr val="FFD43B"/>
                </a:solidFill>
                <a:latin typeface="Courier New"/>
              </a:rPr>
              <a:t>in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mylist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True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Loops, Lists, and Tuples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enc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A KEY DIFFERENCE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Lists are mutable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5000"/>
              </a:lnSpc>
              <a:spcAft>
                <a:spcPts val="13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Strings are immutable — once created, they can never be changed in place</a:t>
            </a:r>
          </a:p>
          <a:p>
            <a:pPr marL="310896" indent="-310896" algn="l">
              <a:lnSpc>
                <a:spcPct val="115000"/>
              </a:lnSpc>
              <a:spcAft>
                <a:spcPts val="13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Lists are mutable — you can change an element without making a new list</a:t>
            </a:r>
          </a:p>
          <a:p>
            <a:pPr marL="310896" indent="-310896" algn="l">
              <a:lnSpc>
                <a:spcPct val="115000"/>
              </a:lnSpc>
              <a:spcAft>
                <a:spcPts val="13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"Mutable" means change-in-place is allowed: mylist[i] = new_value works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10896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0" y="214884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D43B"/>
                </a:solidFill>
                <a:latin typeface="Arial"/>
              </a:rPr>
              <a:t>STRINGS — 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514600"/>
            <a:ext cx="42062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F4F7FA"/>
                </a:solidFill>
                <a:latin typeface="Courier New"/>
              </a:rPr>
              <a:t>s = </a:t>
            </a:r>
            <a:r>
              <a:rPr sz="1450" b="0" i="0">
                <a:solidFill>
                  <a:srgbClr val="8FD14F"/>
                </a:solidFill>
                <a:latin typeface="Courier New"/>
              </a:rPr>
              <a:t>'abcdefghij'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F4F7FA"/>
                </a:solidFill>
                <a:latin typeface="Courier New"/>
              </a:rPr>
              <a:t>s[3] = </a:t>
            </a:r>
            <a:r>
              <a:rPr sz="1450" b="0" i="0">
                <a:solidFill>
                  <a:srgbClr val="8FD14F"/>
                </a:solidFill>
                <a:latin typeface="Courier New"/>
              </a:rPr>
              <a:t>'!'</a:t>
            </a:r>
          </a:p>
          <a:p>
            <a:pPr algn="l">
              <a:lnSpc>
                <a:spcPct val="130000"/>
              </a:lnSpc>
            </a:pPr>
            <a:r>
              <a:rPr sz="1450" b="0" i="1">
                <a:solidFill>
                  <a:srgbClr val="62778C"/>
                </a:solidFill>
                <a:latin typeface="Courier New"/>
              </a:rPr>
              <a:t># TypeError!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520440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FFD43B"/>
                </a:solidFill>
                <a:latin typeface="Arial"/>
              </a:rPr>
              <a:t>LISTS — WORKS FINE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3886200"/>
            <a:ext cx="420624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F4F7FA"/>
                </a:solidFill>
                <a:latin typeface="Courier New"/>
              </a:rPr>
              <a:t>mylist = [</a:t>
            </a:r>
            <a:r>
              <a:rPr sz="1450" b="0" i="0">
                <a:solidFill>
                  <a:srgbClr val="8FD14F"/>
                </a:solidFill>
                <a:latin typeface="Courier New"/>
              </a:rPr>
              <a:t>10</a:t>
            </a:r>
            <a:r>
              <a:rPr sz="1450" b="0" i="0">
                <a:solidFill>
                  <a:srgbClr val="F4F7FA"/>
                </a:solidFill>
                <a:latin typeface="Courier New"/>
              </a:rPr>
              <a:t>, </a:t>
            </a:r>
            <a:r>
              <a:rPr sz="1450" b="0" i="0">
                <a:solidFill>
                  <a:srgbClr val="8FD14F"/>
                </a:solidFill>
                <a:latin typeface="Courier New"/>
              </a:rPr>
              <a:t>20</a:t>
            </a:r>
            <a:r>
              <a:rPr sz="1450" b="0" i="0">
                <a:solidFill>
                  <a:srgbClr val="F4F7FA"/>
                </a:solidFill>
                <a:latin typeface="Courier New"/>
              </a:rPr>
              <a:t>, </a:t>
            </a:r>
            <a:r>
              <a:rPr sz="1450" b="0" i="0">
                <a:solidFill>
                  <a:srgbClr val="8FD14F"/>
                </a:solidFill>
                <a:latin typeface="Courier New"/>
              </a:rPr>
              <a:t>30</a:t>
            </a:r>
            <a:r>
              <a:rPr sz="1450" b="0" i="0">
                <a:solidFill>
                  <a:srgbClr val="F4F7FA"/>
                </a:solidFill>
                <a:latin typeface="Courier New"/>
              </a:rPr>
              <a:t>]</a:t>
            </a:r>
          </a:p>
          <a:p>
            <a:pPr algn="l">
              <a:lnSpc>
                <a:spcPct val="130000"/>
              </a:lnSpc>
            </a:pPr>
            <a:r>
              <a:rPr sz="1450" b="0" i="0">
                <a:solidFill>
                  <a:srgbClr val="F4F7FA"/>
                </a:solidFill>
                <a:latin typeface="Courier New"/>
              </a:rPr>
              <a:t>mylist[1] = </a:t>
            </a:r>
            <a:r>
              <a:rPr sz="1450" b="0" i="0">
                <a:solidFill>
                  <a:srgbClr val="8FD14F"/>
                </a:solidFill>
                <a:latin typeface="Courier New"/>
              </a:rPr>
              <a:t>99999</a:t>
            </a:r>
          </a:p>
          <a:p>
            <a:pPr algn="l">
              <a:lnSpc>
                <a:spcPct val="130000"/>
              </a:lnSpc>
            </a:pPr>
            <a:r>
              <a:rPr sz="1450" b="0" i="1">
                <a:solidFill>
                  <a:srgbClr val="62778C"/>
                </a:solidFill>
                <a:latin typeface="Courier New"/>
              </a:rPr>
              <a:t># [10, 99999, 30]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Loops, Lists, and Tuples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lus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LISTS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Growing a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5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list.append(x) — adds one new value to the end</a:t>
            </a:r>
          </a:p>
          <a:p>
            <a:pPr marL="310896" indent="-310896" algn="l">
              <a:lnSpc>
                <a:spcPct val="115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list.extend(iterable) — adds each value from another list, one at a time</a:t>
            </a:r>
          </a:p>
          <a:p>
            <a:pPr marL="310896" indent="-310896" algn="l">
              <a:lnSpc>
                <a:spcPct val="115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mylist += [...] does the same thing as extend</a:t>
            </a:r>
          </a:p>
          <a:p>
            <a:pPr marL="310896" indent="-310896" algn="l">
              <a:lnSpc>
                <a:spcPct val="115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list.pop() — removes and returns the last element (removing is rare)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10896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39128" y="2075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58584" y="2075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78040" y="2075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208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grow_list.py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377439"/>
            <a:ext cx="4297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mylist = [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10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,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20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,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30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]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mylist.</a:t>
            </a:r>
            <a:r>
              <a:rPr sz="1550" b="1" i="0">
                <a:solidFill>
                  <a:srgbClr val="4B8BBE"/>
                </a:solidFill>
                <a:latin typeface="Courier New"/>
              </a:rPr>
              <a:t>append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40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)</a:t>
            </a:r>
          </a:p>
          <a:p>
            <a:pPr algn="l">
              <a:lnSpc>
                <a:spcPct val="135000"/>
              </a:lnSpc>
            </a:pPr>
            <a:r>
              <a:rPr sz="1550" b="0" i="1">
                <a:solidFill>
                  <a:srgbClr val="62778C"/>
                </a:solidFill>
                <a:latin typeface="Courier New"/>
              </a:rPr>
              <a:t># [10, 20, 30, 40]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mylist += [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50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,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60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]</a:t>
            </a:r>
          </a:p>
          <a:p>
            <a:pPr algn="l">
              <a:lnSpc>
                <a:spcPct val="135000"/>
              </a:lnSpc>
            </a:pPr>
            <a:r>
              <a:rPr sz="1550" b="0" i="1">
                <a:solidFill>
                  <a:srgbClr val="62778C"/>
                </a:solidFill>
                <a:latin typeface="Courier New"/>
              </a:rPr>
              <a:t># [10, 20, 30, 40, 50, 60]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mylist.</a:t>
            </a:r>
            <a:r>
              <a:rPr sz="1550" b="1" i="0">
                <a:solidFill>
                  <a:srgbClr val="4B8BBE"/>
                </a:solidFill>
                <a:latin typeface="Courier New"/>
              </a:rPr>
              <a:t>pop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()    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Loops, Lists, and Tuples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STRINGS → LISTS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str.split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5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list('abcd') breaks a string into individual characters — rarely what you want</a:t>
            </a:r>
          </a:p>
          <a:p>
            <a:pPr marL="310896" indent="-310896" algn="l">
              <a:lnSpc>
                <a:spcPct val="115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str.split(sep) returns a list of strings, cut at every sep</a:t>
            </a:r>
          </a:p>
          <a:p>
            <a:pPr marL="310896" indent="-310896" algn="l">
              <a:lnSpc>
                <a:spcPct val="115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Call split() with no argument to split on any run of whitespace —
safer than splitting on a single space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10896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39128" y="2075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58584" y="2075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78040" y="2075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208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split_demo.py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377439"/>
            <a:ext cx="4297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text =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'abcd:ef:ghi'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text.</a:t>
            </a:r>
            <a:r>
              <a:rPr sz="1550" b="1" i="0">
                <a:solidFill>
                  <a:srgbClr val="4B8BBE"/>
                </a:solidFill>
                <a:latin typeface="Courier New"/>
              </a:rPr>
              <a:t>split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':'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)</a:t>
            </a:r>
          </a:p>
          <a:p>
            <a:pPr algn="l">
              <a:lnSpc>
                <a:spcPct val="135000"/>
              </a:lnSpc>
            </a:pPr>
            <a:r>
              <a:rPr sz="1550" b="0" i="1">
                <a:solidFill>
                  <a:srgbClr val="62778C"/>
                </a:solidFill>
                <a:latin typeface="Courier New"/>
              </a:rPr>
              <a:t># ['abcd', 'ef', 'ghi']</a:t>
            </a:r>
          </a:p>
          <a:p>
            <a:pPr algn="l">
              <a:lnSpc>
                <a:spcPct val="135000"/>
              </a:lnSpc>
            </a:pPr>
            <a:endParaRPr sz="1550" b="0" i="1">
              <a:solidFill>
                <a:srgbClr val="62778C"/>
              </a:solidFill>
              <a:latin typeface="Courier New"/>
            </a:endParaRP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text =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'a  lot   of  space'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text.</a:t>
            </a:r>
            <a:r>
              <a:rPr sz="1550" b="1" i="0">
                <a:solidFill>
                  <a:srgbClr val="4B8BBE"/>
                </a:solidFill>
                <a:latin typeface="Courier New"/>
              </a:rPr>
              <a:t>split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()</a:t>
            </a:r>
          </a:p>
          <a:p>
            <a:pPr algn="l">
              <a:lnSpc>
                <a:spcPct val="135000"/>
              </a:lnSpc>
            </a:pPr>
            <a:r>
              <a:rPr sz="1550" b="0" i="1">
                <a:solidFill>
                  <a:srgbClr val="62778C"/>
                </a:solidFill>
                <a:latin typeface="Courier New"/>
              </a:rPr>
              <a:t># ['a', 'lot', 'of', 'space']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Loops, Lists, and Tuples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jo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LISTS → STRINGS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str.join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20000"/>
              </a:lnSpc>
              <a:spcAft>
                <a:spcPts val="1300"/>
              </a:spcAft>
            </a:pPr>
            <a:r>
              <a:rPr sz="16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600" b="0" i="0">
                <a:solidFill>
                  <a:srgbClr val="F4F7FA"/>
                </a:solidFill>
                <a:latin typeface="Arial"/>
              </a:rPr>
              <a:t>str.join is the opposite of str.split</a:t>
            </a:r>
          </a:p>
          <a:p>
            <a:pPr marL="310896" indent="-310896" algn="l">
              <a:lnSpc>
                <a:spcPct val="120000"/>
              </a:lnSpc>
              <a:spcAft>
                <a:spcPts val="1300"/>
              </a:spcAft>
            </a:pPr>
            <a:r>
              <a:rPr sz="16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600" b="0" i="0">
                <a:solidFill>
                  <a:srgbClr val="F4F7FA"/>
                </a:solidFill>
                <a:latin typeface="Arial"/>
              </a:rPr>
              <a:t>The string you call it on is the "glue" placed between each element</a:t>
            </a:r>
          </a:p>
          <a:p>
            <a:pPr marL="310896" indent="-310896" algn="l">
              <a:lnSpc>
                <a:spcPct val="120000"/>
              </a:lnSpc>
              <a:spcAft>
                <a:spcPts val="1300"/>
              </a:spcAft>
            </a:pPr>
            <a:r>
              <a:rPr sz="160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600" b="0" i="0">
                <a:solidFill>
                  <a:srgbClr val="F4F7FA"/>
                </a:solidFill>
                <a:latin typeface="Arial"/>
              </a:rPr>
              <a:t>It needs a list of strings to glue together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10896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39128" y="2075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58584" y="2075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78040" y="2075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208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join_demo.py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377439"/>
            <a:ext cx="4297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words = [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'this'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,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'is'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,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'fun'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]</a:t>
            </a:r>
          </a:p>
          <a:p>
            <a:pPr algn="l">
              <a:lnSpc>
                <a:spcPct val="135000"/>
              </a:lnSpc>
            </a:pPr>
            <a:endParaRPr sz="1550" b="0" i="0">
              <a:solidFill>
                <a:srgbClr val="F4F7FA"/>
              </a:solidFill>
              <a:latin typeface="Courier New"/>
            </a:endParaRP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8FD14F"/>
                </a:solidFill>
                <a:latin typeface="Courier New"/>
              </a:rPr>
              <a:t>' 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.</a:t>
            </a:r>
            <a:r>
              <a:rPr sz="1550" b="1" i="0">
                <a:solidFill>
                  <a:srgbClr val="4B8BBE"/>
                </a:solidFill>
                <a:latin typeface="Courier New"/>
              </a:rPr>
              <a:t>join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(words)</a:t>
            </a:r>
          </a:p>
          <a:p>
            <a:pPr algn="l">
              <a:lnSpc>
                <a:spcPct val="135000"/>
              </a:lnSpc>
            </a:pPr>
            <a:r>
              <a:rPr sz="1550" b="0" i="1">
                <a:solidFill>
                  <a:srgbClr val="62778C"/>
                </a:solidFill>
                <a:latin typeface="Courier New"/>
              </a:rPr>
              <a:t># 'this is fun'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8FD14F"/>
                </a:solidFill>
                <a:latin typeface="Courier New"/>
              </a:rPr>
              <a:t>'*'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.</a:t>
            </a:r>
            <a:r>
              <a:rPr sz="1550" b="1" i="0">
                <a:solidFill>
                  <a:srgbClr val="4B8BBE"/>
                </a:solidFill>
                <a:latin typeface="Courier New"/>
              </a:rPr>
              <a:t>join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(words)</a:t>
            </a:r>
          </a:p>
          <a:p>
            <a:pPr algn="l">
              <a:lnSpc>
                <a:spcPct val="135000"/>
              </a:lnSpc>
            </a:pPr>
            <a:r>
              <a:rPr sz="1550" b="0" i="1">
                <a:solidFill>
                  <a:srgbClr val="62778C"/>
                </a:solidFill>
                <a:latin typeface="Courier New"/>
              </a:rPr>
              <a:t># 'this*is*fun'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Loops, Lists, and Tuples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uple_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A THIRD SEQUENCE 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Tuples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3000"/>
              </a:lnSpc>
              <a:spcAft>
                <a:spcPts val="11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Strings — immutable, hold characters</a:t>
            </a:r>
          </a:p>
          <a:p>
            <a:pPr marL="310896" indent="-310896" algn="l">
              <a:lnSpc>
                <a:spcPct val="113000"/>
              </a:lnSpc>
              <a:spcAft>
                <a:spcPts val="11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Lists — mutable, hold anything</a:t>
            </a:r>
          </a:p>
          <a:p>
            <a:pPr marL="310896" indent="-310896" algn="l">
              <a:lnSpc>
                <a:spcPct val="113000"/>
              </a:lnSpc>
              <a:spcAft>
                <a:spcPts val="11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Tuples — immutable, hold anything</a:t>
            </a:r>
          </a:p>
          <a:p>
            <a:pPr marL="310896" indent="-310896" algn="l">
              <a:lnSpc>
                <a:spcPct val="113000"/>
              </a:lnSpc>
              <a:spcAft>
                <a:spcPts val="11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Defined with ( ) — though the parentheses are actually optional</a:t>
            </a:r>
          </a:p>
          <a:p>
            <a:pPr marL="310896" indent="-310896" algn="l">
              <a:lnSpc>
                <a:spcPct val="113000"/>
              </a:lnSpc>
              <a:spcAft>
                <a:spcPts val="11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Use a tuple when the values shouldn't change, like coordinates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10896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39128" y="2075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58584" y="2075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78040" y="2075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208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tuples.py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377439"/>
            <a:ext cx="4297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t = (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10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,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20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,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30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)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t[0]      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10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t[-1]     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30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8FD14F"/>
                </a:solidFill>
                <a:latin typeface="Courier New"/>
              </a:rPr>
              <a:t>20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</a:t>
            </a:r>
            <a:r>
              <a:rPr sz="1550" b="1" i="0">
                <a:solidFill>
                  <a:srgbClr val="FFD43B"/>
                </a:solidFill>
                <a:latin typeface="Courier New"/>
              </a:rPr>
              <a:t>in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 t   </a:t>
            </a:r>
            <a:r>
              <a:rPr sz="1550" b="0" i="1">
                <a:solidFill>
                  <a:srgbClr val="62778C"/>
                </a:solidFill>
                <a:latin typeface="Courier New"/>
              </a:rPr>
              <a:t># True</a:t>
            </a:r>
          </a:p>
          <a:p>
            <a:pPr algn="l">
              <a:lnSpc>
                <a:spcPct val="135000"/>
              </a:lnSpc>
            </a:pPr>
            <a:endParaRPr sz="1550" b="0" i="1">
              <a:solidFill>
                <a:srgbClr val="62778C"/>
              </a:solidFill>
              <a:latin typeface="Courier New"/>
            </a:endParaRPr>
          </a:p>
          <a:p>
            <a:pPr algn="l">
              <a:lnSpc>
                <a:spcPct val="135000"/>
              </a:lnSpc>
            </a:pPr>
            <a:r>
              <a:rPr sz="1550" b="0" i="1">
                <a:solidFill>
                  <a:srgbClr val="62778C"/>
                </a:solidFill>
                <a:latin typeface="Courier New"/>
              </a:rPr>
              <a:t># the parens are optional!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t =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10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,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20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,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Loops, Lists, and Tuples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w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A VERY HANDY TRICK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Tuple unpacking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39496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310896" indent="-310896" algn="l">
              <a:lnSpc>
                <a:spcPct val="115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Put a tuple of variables on the left of an assignment</a:t>
            </a:r>
          </a:p>
          <a:p>
            <a:pPr marL="310896" indent="-310896" algn="l">
              <a:lnSpc>
                <a:spcPct val="115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Python assigns each value on the right to the matching
variable on the left, in order</a:t>
            </a:r>
          </a:p>
          <a:p>
            <a:pPr marL="310896" indent="-310896" algn="l">
              <a:lnSpc>
                <a:spcPct val="115000"/>
              </a:lnSpc>
              <a:spcAft>
                <a:spcPts val="1200"/>
              </a:spcAft>
            </a:pPr>
            <a:r>
              <a:rPr sz="1550" b="1" i="0">
                <a:solidFill>
                  <a:srgbClr val="FFD43B"/>
                </a:solidFill>
                <a:latin typeface="Arial"/>
              </a:rPr>
              <a:t>›  </a:t>
            </a:r>
            <a:r>
              <a:rPr sz="1550" b="0" i="0">
                <a:solidFill>
                  <a:srgbClr val="F4F7FA"/>
                </a:solidFill>
                <a:latin typeface="Arial"/>
              </a:rPr>
              <a:t>This is exactly how enumerate() hands you index and value together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874519"/>
            <a:ext cx="4846320" cy="3108960"/>
          </a:xfrm>
          <a:prstGeom prst="roundRect">
            <a:avLst>
              <a:gd name="adj" fmla="val 6000"/>
            </a:avLst>
          </a:prstGeom>
          <a:solidFill>
            <a:srgbClr val="0D16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739128" y="2075688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958584" y="2075688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78040" y="2075688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2020824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0" i="0">
                <a:solidFill>
                  <a:srgbClr val="93A6B8"/>
                </a:solidFill>
                <a:latin typeface="Courier New"/>
              </a:rPr>
              <a:t>unpacking.py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30568" y="2377439"/>
            <a:ext cx="4297680" cy="2468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x, y, z = [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12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,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14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,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16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]</a:t>
            </a:r>
          </a:p>
          <a:p>
            <a:pPr algn="l">
              <a:lnSpc>
                <a:spcPct val="135000"/>
              </a:lnSpc>
            </a:pPr>
            <a:r>
              <a:rPr sz="1550" b="0" i="1">
                <a:solidFill>
                  <a:srgbClr val="62778C"/>
                </a:solidFill>
                <a:latin typeface="Courier New"/>
              </a:rPr>
              <a:t># x=12  y=14  z=16</a:t>
            </a:r>
          </a:p>
          <a:p>
            <a:pPr algn="l">
              <a:lnSpc>
                <a:spcPct val="135000"/>
              </a:lnSpc>
            </a:pPr>
            <a:endParaRPr sz="1550" b="0" i="1">
              <a:solidFill>
                <a:srgbClr val="62778C"/>
              </a:solidFill>
              <a:latin typeface="Courier New"/>
            </a:endParaRPr>
          </a:p>
          <a:p>
            <a:pPr algn="l">
              <a:lnSpc>
                <a:spcPct val="135000"/>
              </a:lnSpc>
            </a:pPr>
            <a:r>
              <a:rPr sz="1550" b="0" i="1">
                <a:solidFill>
                  <a:srgbClr val="62778C"/>
                </a:solidFill>
                <a:latin typeface="Courier New"/>
              </a:rPr>
              <a:t># swap two variables!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x =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100</a:t>
            </a:r>
            <a:r>
              <a:rPr sz="1550" b="0" i="0">
                <a:solidFill>
                  <a:srgbClr val="F4F7FA"/>
                </a:solidFill>
                <a:latin typeface="Courier New"/>
              </a:rPr>
              <a:t>; y = </a:t>
            </a:r>
            <a:r>
              <a:rPr sz="1550" b="0" i="0">
                <a:solidFill>
                  <a:srgbClr val="8FD14F"/>
                </a:solidFill>
                <a:latin typeface="Courier New"/>
              </a:rPr>
              <a:t>200</a:t>
            </a:r>
          </a:p>
          <a:p>
            <a:pPr algn="l">
              <a:lnSpc>
                <a:spcPct val="135000"/>
              </a:lnSpc>
            </a:pPr>
            <a:r>
              <a:rPr sz="1550" b="0" i="0">
                <a:solidFill>
                  <a:srgbClr val="F4F7FA"/>
                </a:solidFill>
                <a:latin typeface="Courier New"/>
              </a:rPr>
              <a:t>x, y = y, x</a:t>
            </a:r>
          </a:p>
          <a:p>
            <a:pPr algn="l">
              <a:lnSpc>
                <a:spcPct val="135000"/>
              </a:lnSpc>
            </a:pPr>
            <a:r>
              <a:rPr sz="1550" b="0" i="1">
                <a:solidFill>
                  <a:srgbClr val="62778C"/>
                </a:solidFill>
                <a:latin typeface="Courier New"/>
              </a:rPr>
              <a:t># x=200  y=100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Loops, Lists, and Tuples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38912"/>
            <a:ext cx="777240" cy="7772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74519" y="530352"/>
            <a:ext cx="8595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FFD43B"/>
                </a:solidFill>
                <a:latin typeface="Arial"/>
              </a:rPr>
              <a:t>SESSION 2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74519" y="877824"/>
            <a:ext cx="8595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4F7FA"/>
                </a:solidFill>
                <a:latin typeface="Arial"/>
              </a:rPr>
              <a:t>What you can now 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5074920" cy="512064"/>
          </a:xfrm>
          <a:prstGeom prst="roundRect">
            <a:avLst>
              <a:gd name="adj" fmla="val 2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847088"/>
            <a:ext cx="384048" cy="38404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1783080"/>
            <a:ext cx="43891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F4F7FA"/>
                </a:solidFill>
                <a:latin typeface="Arial"/>
              </a:rPr>
              <a:t>Explain why loops exist and follow the DRY principle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14016"/>
            <a:ext cx="5074920" cy="512064"/>
          </a:xfrm>
          <a:prstGeom prst="roundRect">
            <a:avLst>
              <a:gd name="adj" fmla="val 2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478024"/>
            <a:ext cx="384048" cy="3840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71600" y="2414016"/>
            <a:ext cx="43891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F4F7FA"/>
                </a:solidFill>
                <a:latin typeface="Arial"/>
              </a:rPr>
              <a:t>Write for loops over strings, lists, and range()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044952"/>
            <a:ext cx="5074920" cy="512064"/>
          </a:xfrm>
          <a:prstGeom prst="roundRect">
            <a:avLst>
              <a:gd name="adj" fmla="val 2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3108960"/>
            <a:ext cx="384048" cy="38404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71600" y="3044952"/>
            <a:ext cx="43891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F4F7FA"/>
                </a:solidFill>
                <a:latin typeface="Arial"/>
              </a:rPr>
              <a:t>Get an index and value together with enumerate()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675888"/>
            <a:ext cx="5074920" cy="512064"/>
          </a:xfrm>
          <a:prstGeom prst="roundRect">
            <a:avLst>
              <a:gd name="adj" fmla="val 2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3739896"/>
            <a:ext cx="384048" cy="3840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71600" y="3675888"/>
            <a:ext cx="43891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F4F7FA"/>
                </a:solidFill>
                <a:latin typeface="Arial"/>
              </a:rPr>
              <a:t>Control loops with break and continue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306824"/>
            <a:ext cx="5074920" cy="512064"/>
          </a:xfrm>
          <a:prstGeom prst="roundRect">
            <a:avLst>
              <a:gd name="adj" fmla="val 2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4370832"/>
            <a:ext cx="384048" cy="38404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371600" y="4306824"/>
            <a:ext cx="43891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F4F7FA"/>
                </a:solidFill>
                <a:latin typeface="Arial"/>
              </a:rPr>
              <a:t>Write while loops for open-ended repetition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1783080"/>
            <a:ext cx="5074920" cy="512064"/>
          </a:xfrm>
          <a:prstGeom prst="roundRect">
            <a:avLst>
              <a:gd name="adj" fmla="val 2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1847088"/>
            <a:ext cx="384048" cy="38404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858000" y="1783080"/>
            <a:ext cx="43891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F4F7FA"/>
                </a:solidFill>
                <a:latin typeface="Arial"/>
              </a:rPr>
              <a:t>Create, index, slice, and mutate a list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2414016"/>
            <a:ext cx="5074920" cy="512064"/>
          </a:xfrm>
          <a:prstGeom prst="roundRect">
            <a:avLst>
              <a:gd name="adj" fmla="val 2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2478024"/>
            <a:ext cx="384048" cy="38404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858000" y="2414016"/>
            <a:ext cx="43891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F4F7FA"/>
                </a:solidFill>
                <a:latin typeface="Arial"/>
              </a:rPr>
              <a:t>Grow a list with .append(), .extend(), and +=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3044952"/>
            <a:ext cx="5074920" cy="512064"/>
          </a:xfrm>
          <a:prstGeom prst="roundRect">
            <a:avLst>
              <a:gd name="adj" fmla="val 2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3108960"/>
            <a:ext cx="384048" cy="38404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858000" y="3044952"/>
            <a:ext cx="43891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F4F7FA"/>
                </a:solidFill>
                <a:latin typeface="Arial"/>
              </a:rPr>
              <a:t>Convert strings to lists and back with .split() / .join()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675888"/>
            <a:ext cx="5074920" cy="512064"/>
          </a:xfrm>
          <a:prstGeom prst="roundRect">
            <a:avLst>
              <a:gd name="adj" fmla="val 20000"/>
            </a:avLst>
          </a:prstGeom>
          <a:solidFill>
            <a:srgbClr val="1F2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2512" y="3739896"/>
            <a:ext cx="384048" cy="384048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858000" y="3675888"/>
            <a:ext cx="438912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F4F7FA"/>
                </a:solidFill>
                <a:latin typeface="Arial"/>
              </a:rPr>
              <a:t>Use tuples and tuple unpacking, including variable swaps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Loops, Lists, and Tuples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914400"/>
            <a:ext cx="1463040" cy="14630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697480"/>
            <a:ext cx="10332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D43B"/>
                </a:solidFill>
                <a:latin typeface="Arial"/>
              </a:rPr>
              <a:t>SESSION 3 — COMING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54680"/>
            <a:ext cx="10332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200" b="1" i="0">
                <a:solidFill>
                  <a:srgbClr val="F4F7FA"/>
                </a:solidFill>
                <a:latin typeface="Arial"/>
              </a:rPr>
              <a:t>From sequences to key-value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4160520"/>
            <a:ext cx="9235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550" b="0" i="0">
                <a:solidFill>
                  <a:srgbClr val="93A6B8"/>
                </a:solidFill>
                <a:latin typeface="Arial"/>
              </a:rPr>
              <a:t>Next up: dictionaries — storing and looking up data by key</a:t>
            </a:r>
          </a:p>
          <a:p>
            <a:pPr algn="ctr">
              <a:lnSpc>
                <a:spcPct val="130000"/>
              </a:lnSpc>
            </a:pPr>
            <a:r>
              <a:rPr sz="1550" b="0" i="0">
                <a:solidFill>
                  <a:srgbClr val="93A6B8"/>
                </a:solidFill>
                <a:latin typeface="Arial"/>
              </a:rPr>
              <a:t>instead of by position.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739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>
                <a:solidFill>
                  <a:srgbClr val="93A6B8"/>
                </a:solidFill>
                <a:latin typeface="Arial"/>
              </a:rPr>
              <a:t>Loops, Lists, and Tuples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739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50" b="0" i="0">
                <a:solidFill>
                  <a:srgbClr val="93A6B8"/>
                </a:solidFill>
                <a:latin typeface="Arial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1685</Words>
  <Application>Microsoft Macintosh PowerPoint</Application>
  <PresentationFormat>Widescreen</PresentationFormat>
  <Paragraphs>253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Cade</cp:lastModifiedBy>
  <cp:revision>2</cp:revision>
  <dcterms:created xsi:type="dcterms:W3CDTF">2013-01-27T09:14:16Z</dcterms:created>
  <dcterms:modified xsi:type="dcterms:W3CDTF">2026-07-13T19:59:41Z</dcterms:modified>
  <cp:category/>
</cp:coreProperties>
</file>